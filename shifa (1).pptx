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767596A-5A51-4339-ABB7-E3A02DBCA742}">
  <a:tblStyle styleId="{6767596A-5A51-4339-ABB7-E3A02DBCA74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77" autoAdjust="0"/>
    <p:restoredTop sz="94660"/>
  </p:normalViewPr>
  <p:slideViewPr>
    <p:cSldViewPr snapToGrid="0">
      <p:cViewPr varScale="1">
        <p:scale>
          <a:sx n="53" d="100"/>
          <a:sy n="53" d="100"/>
        </p:scale>
        <p:origin x="850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0" name="Google Shape;1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9" name="Google Shape;1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915687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9" name="Google Shape;2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8" name="Google Shape;2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0" name="Google Shape;25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0" name="Google Shape;27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5" name="Google Shape;3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7" name="Google Shape;36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2" name="Google Shape;40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0" name="Google Shape;42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9" name="Google Shape;43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8" name="Google Shape;47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6" name="Google Shape;49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9" name="Google Shape;51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2"/>
          <p:cNvGrpSpPr/>
          <p:nvPr/>
        </p:nvGrpSpPr>
        <p:grpSpPr>
          <a:xfrm rot="-4319701">
            <a:off x="-7170648" y="-1328602"/>
            <a:ext cx="13180882" cy="5336516"/>
            <a:chOff x="0" y="-76200"/>
            <a:chExt cx="3471547" cy="1405518"/>
          </a:xfrm>
        </p:grpSpPr>
        <p:sp>
          <p:nvSpPr>
            <p:cNvPr id="79" name="Google Shape;79;p12"/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80" name="Google Shape;80;p12"/>
            <p:cNvSpPr txBox="1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" name="Google Shape;81;p12"/>
          <p:cNvSpPr/>
          <p:nvPr/>
        </p:nvSpPr>
        <p:spPr>
          <a:xfrm>
            <a:off x="-442614" y="628630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82" name="Google Shape;82;p12"/>
          <p:cNvGrpSpPr/>
          <p:nvPr/>
        </p:nvGrpSpPr>
        <p:grpSpPr>
          <a:xfrm rot="-4319701">
            <a:off x="11559971" y="5980655"/>
            <a:ext cx="13180882" cy="4579728"/>
            <a:chOff x="0" y="-76200"/>
            <a:chExt cx="3471547" cy="1206197"/>
          </a:xfrm>
        </p:grpSpPr>
        <p:sp>
          <p:nvSpPr>
            <p:cNvPr id="83" name="Google Shape;83;p12"/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84" name="Google Shape;84;p12"/>
            <p:cNvSpPr txBox="1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" name="Google Shape;85;p12"/>
          <p:cNvSpPr/>
          <p:nvPr/>
        </p:nvSpPr>
        <p:spPr>
          <a:xfrm>
            <a:off x="-64837" y="80600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 extrusionOk="0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6" name="Google Shape;86;p12"/>
          <p:cNvSpPr/>
          <p:nvPr/>
        </p:nvSpPr>
        <p:spPr>
          <a:xfrm rot="10800000">
            <a:off x="16546204" y="-61888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7" name="Google Shape;87;p12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 extrusionOk="0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8" name="Google Shape;88;p12"/>
          <p:cNvSpPr/>
          <p:nvPr/>
        </p:nvSpPr>
        <p:spPr>
          <a:xfrm rot="10800000" flipH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 extrusionOk="0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89" name="Google Shape;89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83116" y="518823"/>
            <a:ext cx="1163837" cy="132081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2"/>
          <p:cNvSpPr txBox="1"/>
          <p:nvPr/>
        </p:nvSpPr>
        <p:spPr>
          <a:xfrm>
            <a:off x="7081392" y="2329785"/>
            <a:ext cx="4728900" cy="8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4000 : Project/Thesis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2"/>
          <p:cNvSpPr txBox="1"/>
          <p:nvPr/>
        </p:nvSpPr>
        <p:spPr>
          <a:xfrm>
            <a:off x="2087698" y="3165416"/>
            <a:ext cx="149205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Mixed Precision Driven Optimization of Mixture-of-Experts Models for NLP Tasks</a:t>
            </a:r>
            <a:endParaRPr sz="4800" b="1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2"/>
          <p:cNvSpPr txBox="1"/>
          <p:nvPr/>
        </p:nvSpPr>
        <p:spPr>
          <a:xfrm>
            <a:off x="9149224" y="5687025"/>
            <a:ext cx="9252300" cy="35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9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Sumaiya Khan </a:t>
            </a:r>
            <a:endParaRPr sz="33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7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Roll: 2007031</a:t>
            </a:r>
            <a:endParaRPr sz="27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7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</a:t>
            </a: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Engineering,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7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Khulna University of Engineering &amp; Technology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2"/>
          <p:cNvSpPr txBox="1"/>
          <p:nvPr/>
        </p:nvSpPr>
        <p:spPr>
          <a:xfrm>
            <a:off x="1435167" y="5687036"/>
            <a:ext cx="9331500" cy="26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9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By: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Sk. Imran Hossain</a:t>
            </a:r>
            <a:endParaRPr sz="33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9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Associate Professor</a:t>
            </a:r>
            <a:r>
              <a:rPr lang="en-US" sz="29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7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7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Khulna University of Engineering &amp; Technology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2"/>
          <p:cNvSpPr txBox="1"/>
          <p:nvPr/>
        </p:nvSpPr>
        <p:spPr>
          <a:xfrm>
            <a:off x="7639921" y="9565234"/>
            <a:ext cx="4728900" cy="8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7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15.12.2025</a:t>
            </a:r>
            <a:endParaRPr sz="2700" b="0" i="0" u="sng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5" name="Google Shape;95;p12"/>
          <p:cNvCxnSpPr/>
          <p:nvPr/>
        </p:nvCxnSpPr>
        <p:spPr>
          <a:xfrm>
            <a:off x="8799150" y="5850050"/>
            <a:ext cx="4800" cy="23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3"/>
          <p:cNvGrpSpPr/>
          <p:nvPr/>
        </p:nvGrpSpPr>
        <p:grpSpPr>
          <a:xfrm rot="-4319701">
            <a:off x="-7170648" y="-1328602"/>
            <a:ext cx="13180882" cy="5336516"/>
            <a:chOff x="0" y="-76200"/>
            <a:chExt cx="3471547" cy="1405518"/>
          </a:xfrm>
        </p:grpSpPr>
        <p:sp>
          <p:nvSpPr>
            <p:cNvPr id="101" name="Google Shape;101;p13"/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102" name="Google Shape;102;p13"/>
            <p:cNvSpPr txBox="1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" name="Google Shape;103;p13"/>
          <p:cNvSpPr/>
          <p:nvPr/>
        </p:nvSpPr>
        <p:spPr>
          <a:xfrm>
            <a:off x="-442614" y="628630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04" name="Google Shape;104;p13"/>
          <p:cNvGrpSpPr/>
          <p:nvPr/>
        </p:nvGrpSpPr>
        <p:grpSpPr>
          <a:xfrm rot="-4319701">
            <a:off x="11559971" y="5980655"/>
            <a:ext cx="13180882" cy="4579728"/>
            <a:chOff x="0" y="-76200"/>
            <a:chExt cx="3471547" cy="1206197"/>
          </a:xfrm>
        </p:grpSpPr>
        <p:sp>
          <p:nvSpPr>
            <p:cNvPr id="105" name="Google Shape;105;p13"/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106" name="Google Shape;106;p13"/>
            <p:cNvSpPr txBox="1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3"/>
          <p:cNvSpPr/>
          <p:nvPr/>
        </p:nvSpPr>
        <p:spPr>
          <a:xfrm>
            <a:off x="-64837" y="80600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 extrusionOk="0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8" name="Google Shape;108;p13"/>
          <p:cNvSpPr/>
          <p:nvPr/>
        </p:nvSpPr>
        <p:spPr>
          <a:xfrm rot="10800000">
            <a:off x="16546204" y="-61888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9" name="Google Shape;109;p13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 extrusionOk="0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13"/>
          <p:cNvSpPr/>
          <p:nvPr/>
        </p:nvSpPr>
        <p:spPr>
          <a:xfrm rot="10800000" flipH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 extrusionOk="0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1" name="Google Shape;111;p13"/>
          <p:cNvSpPr txBox="1"/>
          <p:nvPr/>
        </p:nvSpPr>
        <p:spPr>
          <a:xfrm>
            <a:off x="3306923" y="1172137"/>
            <a:ext cx="52071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Overview</a:t>
            </a:r>
            <a:endParaRPr sz="2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3306926" y="2605075"/>
            <a:ext cx="10940100" cy="7017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25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Char char="⮚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</a:t>
            </a: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25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Char char="⮚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25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Char char="⮚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25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Char char="⮚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Planning</a:t>
            </a: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25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Char char="⮚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25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Char char="⮚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25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Char char="⮚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AMP Implementation</a:t>
            </a: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25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Char char="⮚"/>
            </a:pPr>
            <a:r>
              <a:rPr lang="en-US" sz="30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</a:t>
            </a: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</a:t>
            </a: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25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Char char="⮚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25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Char char="⮚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3"/>
          <p:cNvSpPr txBox="1">
            <a:spLocks noGrp="1"/>
          </p:cNvSpPr>
          <p:nvPr>
            <p:ph type="ftr" idx="11"/>
          </p:nvPr>
        </p:nvSpPr>
        <p:spPr>
          <a:xfrm>
            <a:off x="16051624" y="96746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>
                <a:solidFill>
                  <a:schemeClr val="lt1"/>
                </a:solidFill>
              </a:rPr>
              <a:t>2</a:t>
            </a:r>
            <a:endParaRPr sz="2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14"/>
          <p:cNvGrpSpPr/>
          <p:nvPr/>
        </p:nvGrpSpPr>
        <p:grpSpPr>
          <a:xfrm rot="-4319701">
            <a:off x="-7170648" y="-1328602"/>
            <a:ext cx="13180882" cy="5336516"/>
            <a:chOff x="0" y="-76200"/>
            <a:chExt cx="3471547" cy="1405518"/>
          </a:xfrm>
        </p:grpSpPr>
        <p:sp>
          <p:nvSpPr>
            <p:cNvPr id="119" name="Google Shape;119;p14"/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120" name="Google Shape;120;p14"/>
            <p:cNvSpPr txBox="1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14"/>
          <p:cNvSpPr/>
          <p:nvPr/>
        </p:nvSpPr>
        <p:spPr>
          <a:xfrm>
            <a:off x="-442614" y="628630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22" name="Google Shape;122;p14"/>
          <p:cNvGrpSpPr/>
          <p:nvPr/>
        </p:nvGrpSpPr>
        <p:grpSpPr>
          <a:xfrm rot="-4319701">
            <a:off x="11559971" y="5980655"/>
            <a:ext cx="13180882" cy="4579728"/>
            <a:chOff x="0" y="-76200"/>
            <a:chExt cx="3471547" cy="1206197"/>
          </a:xfrm>
        </p:grpSpPr>
        <p:sp>
          <p:nvSpPr>
            <p:cNvPr id="123" name="Google Shape;123;p14"/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124" name="Google Shape;124;p14"/>
            <p:cNvSpPr txBox="1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4"/>
          <p:cNvSpPr/>
          <p:nvPr/>
        </p:nvSpPr>
        <p:spPr>
          <a:xfrm>
            <a:off x="-64837" y="80600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 extrusionOk="0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6" name="Google Shape;126;p14"/>
          <p:cNvSpPr/>
          <p:nvPr/>
        </p:nvSpPr>
        <p:spPr>
          <a:xfrm rot="10800000">
            <a:off x="16546204" y="-61888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7" name="Google Shape;127;p14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 extrusionOk="0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8" name="Google Shape;128;p14"/>
          <p:cNvSpPr/>
          <p:nvPr/>
        </p:nvSpPr>
        <p:spPr>
          <a:xfrm rot="10800000" flipH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 extrusionOk="0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9" name="Google Shape;129;p14"/>
          <p:cNvSpPr txBox="1"/>
          <p:nvPr/>
        </p:nvSpPr>
        <p:spPr>
          <a:xfrm>
            <a:off x="2135742" y="2859803"/>
            <a:ext cx="14410500" cy="3554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25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Char char="⮚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scaling increases accuracy but causes high compute and memory cost. </a:t>
            </a: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25450" algn="just">
              <a:lnSpc>
                <a:spcPct val="150000"/>
              </a:lnSpc>
              <a:buSzPts val="3000"/>
              <a:buFont typeface="Times New Roman"/>
              <a:buChar char="⮚"/>
            </a:pP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Mixture-of-Expert </a:t>
            </a:r>
            <a:r>
              <a:rPr lang="en-US" sz="3000" dirty="0" smtClean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000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MoE</a:t>
            </a:r>
            <a:r>
              <a:rPr lang="en-US" sz="3000" dirty="0" smtClean="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sparse computation by activating few experts per input. </a:t>
            </a: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25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Char char="⮚"/>
            </a:pPr>
            <a:r>
              <a:rPr lang="en-US" sz="3000" b="0" i="0" u="none" strike="noStrike" cap="none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MoE</a:t>
            </a:r>
            <a:r>
              <a:rPr lang="en-US" sz="30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models </a:t>
            </a: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still suffer from training and deployment inefficiency. </a:t>
            </a: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25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Char char="⮚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Mixed precision reduces memory and speeds up training without accuracy loss. </a:t>
            </a: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25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Char char="⮚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Combining </a:t>
            </a:r>
            <a:r>
              <a:rPr lang="en-US" sz="3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MoE</a:t>
            </a: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mixed precision, and quantization is a promising efficiency solution.</a:t>
            </a: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3306923" y="1172137"/>
            <a:ext cx="52071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4"/>
          <p:cNvSpPr txBox="1">
            <a:spLocks noGrp="1"/>
          </p:cNvSpPr>
          <p:nvPr>
            <p:ph type="ftr" idx="11"/>
          </p:nvPr>
        </p:nvSpPr>
        <p:spPr>
          <a:xfrm>
            <a:off x="16051624" y="96746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>
                <a:solidFill>
                  <a:schemeClr val="lt1"/>
                </a:solidFill>
              </a:rPr>
              <a:t>3</a:t>
            </a:r>
            <a:endParaRPr sz="2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5"/>
          <p:cNvGrpSpPr/>
          <p:nvPr/>
        </p:nvGrpSpPr>
        <p:grpSpPr>
          <a:xfrm rot="-4319701">
            <a:off x="-7170648" y="-1328602"/>
            <a:ext cx="13180882" cy="5336516"/>
            <a:chOff x="0" y="-76200"/>
            <a:chExt cx="3471547" cy="1405518"/>
          </a:xfrm>
        </p:grpSpPr>
        <p:sp>
          <p:nvSpPr>
            <p:cNvPr id="137" name="Google Shape;137;p15"/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138" name="Google Shape;138;p15"/>
            <p:cNvSpPr txBox="1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15"/>
          <p:cNvSpPr/>
          <p:nvPr/>
        </p:nvSpPr>
        <p:spPr>
          <a:xfrm>
            <a:off x="-442614" y="628630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0" name="Google Shape;140;p15"/>
          <p:cNvGrpSpPr/>
          <p:nvPr/>
        </p:nvGrpSpPr>
        <p:grpSpPr>
          <a:xfrm rot="-4319701">
            <a:off x="11559971" y="5980655"/>
            <a:ext cx="13180882" cy="4579728"/>
            <a:chOff x="0" y="-76200"/>
            <a:chExt cx="3471547" cy="1206197"/>
          </a:xfrm>
        </p:grpSpPr>
        <p:sp>
          <p:nvSpPr>
            <p:cNvPr id="141" name="Google Shape;141;p15"/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142" name="Google Shape;142;p15"/>
            <p:cNvSpPr txBox="1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15"/>
          <p:cNvSpPr/>
          <p:nvPr/>
        </p:nvSpPr>
        <p:spPr>
          <a:xfrm>
            <a:off x="-64837" y="80600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 extrusionOk="0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4" name="Google Shape;144;p15"/>
          <p:cNvSpPr/>
          <p:nvPr/>
        </p:nvSpPr>
        <p:spPr>
          <a:xfrm rot="10800000">
            <a:off x="16546204" y="-61888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5" name="Google Shape;145;p15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 extrusionOk="0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6" name="Google Shape;146;p15"/>
          <p:cNvSpPr/>
          <p:nvPr/>
        </p:nvSpPr>
        <p:spPr>
          <a:xfrm rot="10800000" flipH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 extrusionOk="0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7" name="Google Shape;147;p15"/>
          <p:cNvSpPr txBox="1"/>
          <p:nvPr/>
        </p:nvSpPr>
        <p:spPr>
          <a:xfrm>
            <a:off x="2464905" y="3183018"/>
            <a:ext cx="13943700" cy="4939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25450" algn="just">
              <a:lnSpc>
                <a:spcPct val="150000"/>
              </a:lnSpc>
              <a:buSzPts val="3000"/>
              <a:buFont typeface="Times New Roman"/>
              <a:buChar char="⮚"/>
            </a:pP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High memory and computation costs in transformer </a:t>
            </a:r>
            <a:r>
              <a:rPr lang="en-US" sz="3000" dirty="0" smtClean="0">
                <a:latin typeface="Times New Roman"/>
                <a:ea typeface="Times New Roman"/>
                <a:cs typeface="Times New Roman"/>
                <a:sym typeface="Times New Roman"/>
              </a:rPr>
              <a:t>training.</a:t>
            </a:r>
          </a:p>
          <a:p>
            <a:pPr marL="457200" lvl="0" indent="-425450" algn="just">
              <a:lnSpc>
                <a:spcPct val="150000"/>
              </a:lnSpc>
              <a:buSzPts val="3000"/>
              <a:buFont typeface="Times New Roman"/>
              <a:buChar char="⮚"/>
            </a:pPr>
            <a:r>
              <a:rPr lang="en-US" sz="3000" dirty="0" smtClean="0">
                <a:latin typeface="Times New Roman"/>
                <a:ea typeface="Times New Roman"/>
                <a:cs typeface="Times New Roman"/>
                <a:sym typeface="Times New Roman"/>
              </a:rPr>
              <a:t>Inefficiency </a:t>
            </a: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of full-precision computation in large matrix </a:t>
            </a:r>
            <a:r>
              <a:rPr lang="en-US" sz="3000" dirty="0" smtClean="0">
                <a:latin typeface="Times New Roman"/>
                <a:ea typeface="Times New Roman"/>
                <a:cs typeface="Times New Roman"/>
                <a:sym typeface="Times New Roman"/>
              </a:rPr>
              <a:t>operations.</a:t>
            </a:r>
          </a:p>
          <a:p>
            <a:pPr marL="457200" lvl="0" indent="-425450" algn="just">
              <a:lnSpc>
                <a:spcPct val="150000"/>
              </a:lnSpc>
              <a:buSzPts val="3000"/>
              <a:buFont typeface="Times New Roman"/>
              <a:buChar char="⮚"/>
            </a:pPr>
            <a:r>
              <a:rPr lang="en-US" sz="3000" dirty="0" smtClean="0">
                <a:latin typeface="Times New Roman"/>
                <a:ea typeface="Times New Roman"/>
                <a:cs typeface="Times New Roman"/>
                <a:sym typeface="Times New Roman"/>
              </a:rPr>
              <a:t>Limited </a:t>
            </a: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understanding of mixed precision and quantization stability in </a:t>
            </a:r>
            <a:r>
              <a:rPr lang="en-US" sz="3000" dirty="0" err="1">
                <a:latin typeface="Times New Roman"/>
                <a:ea typeface="Times New Roman"/>
                <a:cs typeface="Times New Roman"/>
                <a:sym typeface="Times New Roman"/>
              </a:rPr>
              <a:t>MoE</a:t>
            </a: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smtClean="0">
                <a:latin typeface="Times New Roman"/>
                <a:ea typeface="Times New Roman"/>
                <a:cs typeface="Times New Roman"/>
                <a:sym typeface="Times New Roman"/>
              </a:rPr>
              <a:t>frameworks.</a:t>
            </a:r>
          </a:p>
          <a:p>
            <a:pPr marL="457200" lvl="0" indent="-425450" algn="just">
              <a:lnSpc>
                <a:spcPct val="150000"/>
              </a:lnSpc>
              <a:buSzPts val="3000"/>
              <a:buFont typeface="Times New Roman"/>
              <a:buChar char="⮚"/>
            </a:pPr>
            <a:r>
              <a:rPr lang="en-US" sz="3000" dirty="0" smtClean="0">
                <a:latin typeface="Times New Roman"/>
                <a:ea typeface="Times New Roman"/>
                <a:cs typeface="Times New Roman"/>
                <a:sym typeface="Times New Roman"/>
              </a:rPr>
              <a:t>Existing </a:t>
            </a: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expert balancing methods are often insufficient for maintaining model performance under low </a:t>
            </a:r>
            <a:r>
              <a:rPr lang="en-US" sz="3000" dirty="0" smtClean="0">
                <a:latin typeface="Times New Roman"/>
                <a:ea typeface="Times New Roman"/>
                <a:cs typeface="Times New Roman"/>
                <a:sym typeface="Times New Roman"/>
              </a:rPr>
              <a:t>precision</a:t>
            </a:r>
          </a:p>
          <a:p>
            <a:pPr marL="457200" lvl="0" indent="-425450" algn="just">
              <a:lnSpc>
                <a:spcPct val="150000"/>
              </a:lnSpc>
              <a:buSzPts val="3000"/>
              <a:buFont typeface="Times New Roman"/>
              <a:buChar char="⮚"/>
            </a:pPr>
            <a:r>
              <a:rPr lang="en-US" sz="3000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MoE</a:t>
            </a:r>
            <a:r>
              <a:rPr lang="en-US" sz="3000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increases computational and memory overhead</a:t>
            </a: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3306926" y="1172125"/>
            <a:ext cx="88773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15"/>
          <p:cNvSpPr txBox="1">
            <a:spLocks noGrp="1"/>
          </p:cNvSpPr>
          <p:nvPr>
            <p:ph type="ftr" idx="11"/>
          </p:nvPr>
        </p:nvSpPr>
        <p:spPr>
          <a:xfrm>
            <a:off x="16051624" y="96746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>
                <a:solidFill>
                  <a:schemeClr val="lt1"/>
                </a:solidFill>
              </a:rPr>
              <a:t>4</a:t>
            </a:r>
            <a:endParaRPr sz="2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16"/>
          <p:cNvGrpSpPr/>
          <p:nvPr/>
        </p:nvGrpSpPr>
        <p:grpSpPr>
          <a:xfrm rot="-4319701">
            <a:off x="-7170648" y="-1328602"/>
            <a:ext cx="13180882" cy="5336516"/>
            <a:chOff x="0" y="-76200"/>
            <a:chExt cx="3471547" cy="1405518"/>
          </a:xfrm>
        </p:grpSpPr>
        <p:sp>
          <p:nvSpPr>
            <p:cNvPr id="155" name="Google Shape;155;p16"/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156" name="Google Shape;156;p16"/>
            <p:cNvSpPr txBox="1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p16"/>
          <p:cNvSpPr/>
          <p:nvPr/>
        </p:nvSpPr>
        <p:spPr>
          <a:xfrm>
            <a:off x="-442614" y="628630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8" name="Google Shape;158;p16"/>
          <p:cNvGrpSpPr/>
          <p:nvPr/>
        </p:nvGrpSpPr>
        <p:grpSpPr>
          <a:xfrm rot="-4319701">
            <a:off x="11559971" y="5980655"/>
            <a:ext cx="13180882" cy="4579728"/>
            <a:chOff x="0" y="-76200"/>
            <a:chExt cx="3471547" cy="1206197"/>
          </a:xfrm>
        </p:grpSpPr>
        <p:sp>
          <p:nvSpPr>
            <p:cNvPr id="159" name="Google Shape;159;p16"/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160" name="Google Shape;160;p16"/>
            <p:cNvSpPr txBox="1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16"/>
          <p:cNvSpPr/>
          <p:nvPr/>
        </p:nvSpPr>
        <p:spPr>
          <a:xfrm>
            <a:off x="-64837" y="80600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 extrusionOk="0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2" name="Google Shape;162;p16"/>
          <p:cNvSpPr/>
          <p:nvPr/>
        </p:nvSpPr>
        <p:spPr>
          <a:xfrm rot="10800000">
            <a:off x="16546204" y="-61888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3" name="Google Shape;163;p16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 extrusionOk="0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4" name="Google Shape;164;p16"/>
          <p:cNvSpPr/>
          <p:nvPr/>
        </p:nvSpPr>
        <p:spPr>
          <a:xfrm rot="10800000" flipH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 extrusionOk="0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5" name="Google Shape;165;p16"/>
          <p:cNvSpPr txBox="1"/>
          <p:nvPr/>
        </p:nvSpPr>
        <p:spPr>
          <a:xfrm>
            <a:off x="2921876" y="3032304"/>
            <a:ext cx="143937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25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Char char="⮚"/>
            </a:pPr>
            <a:r>
              <a:rPr lang="en-US" sz="3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MoE with mixed precision training.</a:t>
            </a:r>
            <a:endParaRPr sz="3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25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Char char="⮚"/>
            </a:pPr>
            <a:r>
              <a:rPr lang="en-US" sz="3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quantization within MoE experts.</a:t>
            </a:r>
            <a:endParaRPr sz="3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25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Char char="⮚"/>
            </a:pPr>
            <a:r>
              <a:rPr lang="en-US" sz="3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accuracy under low-precision computation.</a:t>
            </a:r>
            <a:endParaRPr sz="3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25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Char char="⮚"/>
            </a:pPr>
            <a:r>
              <a:rPr lang="en-US" sz="3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memory and computational cost.</a:t>
            </a:r>
            <a:endParaRPr sz="3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25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Char char="⮚"/>
            </a:pPr>
            <a:r>
              <a:rPr lang="en-US" sz="3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efficient large-scale deployment.</a:t>
            </a:r>
            <a:endParaRPr sz="3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3306923" y="1172137"/>
            <a:ext cx="52071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2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16"/>
          <p:cNvSpPr txBox="1">
            <a:spLocks noGrp="1"/>
          </p:cNvSpPr>
          <p:nvPr>
            <p:ph type="ftr" idx="11"/>
          </p:nvPr>
        </p:nvSpPr>
        <p:spPr>
          <a:xfrm>
            <a:off x="16051624" y="96746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>
                <a:solidFill>
                  <a:schemeClr val="lt1"/>
                </a:solidFill>
              </a:rPr>
              <a:t>5</a:t>
            </a:r>
            <a:endParaRPr sz="2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17"/>
          <p:cNvGrpSpPr/>
          <p:nvPr/>
        </p:nvGrpSpPr>
        <p:grpSpPr>
          <a:xfrm rot="-4319701">
            <a:off x="-7170648" y="-1328602"/>
            <a:ext cx="13180882" cy="5336516"/>
            <a:chOff x="0" y="-76200"/>
            <a:chExt cx="3471547" cy="1405518"/>
          </a:xfrm>
        </p:grpSpPr>
        <p:sp>
          <p:nvSpPr>
            <p:cNvPr id="173" name="Google Shape;173;p17"/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174" name="Google Shape;174;p17"/>
            <p:cNvSpPr txBox="1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" name="Google Shape;175;p17"/>
          <p:cNvSpPr/>
          <p:nvPr/>
        </p:nvSpPr>
        <p:spPr>
          <a:xfrm>
            <a:off x="-442614" y="628630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76" name="Google Shape;176;p17"/>
          <p:cNvGrpSpPr/>
          <p:nvPr/>
        </p:nvGrpSpPr>
        <p:grpSpPr>
          <a:xfrm rot="-4319701">
            <a:off x="11559971" y="5980655"/>
            <a:ext cx="13180882" cy="4579728"/>
            <a:chOff x="0" y="-76200"/>
            <a:chExt cx="3471547" cy="1206197"/>
          </a:xfrm>
        </p:grpSpPr>
        <p:sp>
          <p:nvSpPr>
            <p:cNvPr id="177" name="Google Shape;177;p17"/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178" name="Google Shape;178;p17"/>
            <p:cNvSpPr txBox="1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9" name="Google Shape;179;p17"/>
          <p:cNvSpPr/>
          <p:nvPr/>
        </p:nvSpPr>
        <p:spPr>
          <a:xfrm>
            <a:off x="-64837" y="80600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 extrusionOk="0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0" name="Google Shape;180;p17"/>
          <p:cNvSpPr/>
          <p:nvPr/>
        </p:nvSpPr>
        <p:spPr>
          <a:xfrm rot="10800000">
            <a:off x="16546204" y="-61888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1" name="Google Shape;181;p17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 extrusionOk="0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2" name="Google Shape;182;p17"/>
          <p:cNvSpPr/>
          <p:nvPr/>
        </p:nvSpPr>
        <p:spPr>
          <a:xfrm rot="10800000" flipH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 extrusionOk="0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4" name="Google Shape;184;p17"/>
          <p:cNvSpPr txBox="1"/>
          <p:nvPr/>
        </p:nvSpPr>
        <p:spPr>
          <a:xfrm>
            <a:off x="3306926" y="1172125"/>
            <a:ext cx="86625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Planning</a:t>
            </a:r>
            <a:endParaRPr sz="2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17"/>
          <p:cNvSpPr txBox="1">
            <a:spLocks noGrp="1"/>
          </p:cNvSpPr>
          <p:nvPr>
            <p:ph type="ftr" idx="11"/>
          </p:nvPr>
        </p:nvSpPr>
        <p:spPr>
          <a:xfrm>
            <a:off x="16051624" y="96746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>
                <a:solidFill>
                  <a:schemeClr val="lt1"/>
                </a:solidFill>
              </a:rPr>
              <a:t>6</a:t>
            </a:r>
            <a:endParaRPr sz="2000" b="1"/>
          </a:p>
        </p:txBody>
      </p:sp>
      <p:sp>
        <p:nvSpPr>
          <p:cNvPr id="186" name="Google Shape;186;p17"/>
          <p:cNvSpPr txBox="1"/>
          <p:nvPr/>
        </p:nvSpPr>
        <p:spPr>
          <a:xfrm>
            <a:off x="6655124" y="9059127"/>
            <a:ext cx="670433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 : </a:t>
            </a:r>
            <a:r>
              <a:rPr lang="en-US" sz="2800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Gantt Chart for Thesis Planning</a:t>
            </a:r>
            <a:endParaRPr sz="2800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694" y="2338853"/>
            <a:ext cx="13735655" cy="65584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18"/>
          <p:cNvGrpSpPr/>
          <p:nvPr/>
        </p:nvGrpSpPr>
        <p:grpSpPr>
          <a:xfrm rot="-4319701">
            <a:off x="-7170648" y="-1328602"/>
            <a:ext cx="13180882" cy="5336516"/>
            <a:chOff x="0" y="-76200"/>
            <a:chExt cx="3471547" cy="1405518"/>
          </a:xfrm>
        </p:grpSpPr>
        <p:sp>
          <p:nvSpPr>
            <p:cNvPr id="192" name="Google Shape;192;p18"/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193" name="Google Shape;193;p18"/>
            <p:cNvSpPr txBox="1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18"/>
          <p:cNvSpPr/>
          <p:nvPr/>
        </p:nvSpPr>
        <p:spPr>
          <a:xfrm>
            <a:off x="-442614" y="628630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95" name="Google Shape;195;p18"/>
          <p:cNvGrpSpPr/>
          <p:nvPr/>
        </p:nvGrpSpPr>
        <p:grpSpPr>
          <a:xfrm rot="-4319701">
            <a:off x="11559971" y="5980655"/>
            <a:ext cx="13180882" cy="4579728"/>
            <a:chOff x="0" y="-76200"/>
            <a:chExt cx="3471547" cy="1206197"/>
          </a:xfrm>
        </p:grpSpPr>
        <p:sp>
          <p:nvSpPr>
            <p:cNvPr id="196" name="Google Shape;196;p18"/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197" name="Google Shape;197;p18"/>
            <p:cNvSpPr txBox="1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18"/>
          <p:cNvSpPr/>
          <p:nvPr/>
        </p:nvSpPr>
        <p:spPr>
          <a:xfrm>
            <a:off x="-64837" y="80600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 extrusionOk="0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9" name="Google Shape;199;p18"/>
          <p:cNvSpPr/>
          <p:nvPr/>
        </p:nvSpPr>
        <p:spPr>
          <a:xfrm rot="10800000">
            <a:off x="16546204" y="-61888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18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 extrusionOk="0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1" name="Google Shape;201;p18"/>
          <p:cNvSpPr/>
          <p:nvPr/>
        </p:nvSpPr>
        <p:spPr>
          <a:xfrm rot="10800000" flipH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 extrusionOk="0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Google Shape;202;p18"/>
          <p:cNvSpPr txBox="1"/>
          <p:nvPr/>
        </p:nvSpPr>
        <p:spPr>
          <a:xfrm>
            <a:off x="6139872" y="525425"/>
            <a:ext cx="9933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lang="en-US" sz="63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6993379" y="1384375"/>
            <a:ext cx="5563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Literature Review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4" name="Google Shape;204;p18"/>
          <p:cNvGraphicFramePr/>
          <p:nvPr>
            <p:extLst>
              <p:ext uri="{D42A27DB-BD31-4B8C-83A1-F6EECF244321}">
                <p14:modId xmlns:p14="http://schemas.microsoft.com/office/powerpoint/2010/main" val="3688076387"/>
              </p:ext>
            </p:extLst>
          </p:nvPr>
        </p:nvGraphicFramePr>
        <p:xfrm>
          <a:off x="1338866" y="2231549"/>
          <a:ext cx="16372200" cy="7850490"/>
        </p:xfrm>
        <a:graphic>
          <a:graphicData uri="http://schemas.openxmlformats.org/drawingml/2006/table">
            <a:tbl>
              <a:tblPr firstRow="1" bandRow="1">
                <a:noFill/>
                <a:tableStyleId>{6767596A-5A51-4339-ABB7-E3A02DBCA742}</a:tableStyleId>
              </a:tblPr>
              <a:tblGrid>
                <a:gridCol w="198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Serial No</a:t>
                      </a:r>
                      <a:endParaRPr sz="2000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 sz="2000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Reviews</a:t>
                      </a:r>
                      <a:endParaRPr sz="2000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0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b="0" i="0" u="none" strike="noStrike" cap="none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Survey on Mixture of Experts in Large Language Models</a:t>
                      </a:r>
                      <a:endParaRPr lang="en-US" sz="3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Char char="•"/>
                      </a:pPr>
                      <a:r>
                        <a:rPr lang="en-US" sz="3000" u="none" strike="noStrike" cap="none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 a taxonomy of </a:t>
                      </a:r>
                      <a:r>
                        <a:rPr lang="en-US" sz="3000" u="none" strike="noStrike" cap="none" dirty="0" err="1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MoE</a:t>
                      </a:r>
                      <a:r>
                        <a:rPr lang="en-US" sz="3000" u="none" strike="noStrike" cap="none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methods</a:t>
                      </a:r>
                      <a:endParaRPr lang="en-US" sz="2000" u="none" strike="noStrike" cap="none" dirty="0" smtClean="0"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Char char="•"/>
                      </a:pPr>
                      <a:r>
                        <a:rPr lang="en-US" sz="3000" u="none" strike="noStrike" cap="none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Analyzed gating, experts, and routing strategies</a:t>
                      </a:r>
                      <a:endParaRPr lang="en-US" sz="2000" u="none" strike="noStrike" cap="none" dirty="0" smtClean="0"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Char char="•"/>
                      </a:pPr>
                      <a:r>
                        <a:rPr lang="en-US" sz="3000" u="none" strike="noStrike" cap="none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Identified expert imbalance and training instability</a:t>
                      </a:r>
                      <a:endParaRPr lang="en-US" sz="2000" u="none" strike="noStrike" cap="none" dirty="0" smtClean="0"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Char char="•"/>
                      </a:pPr>
                      <a:r>
                        <a:rPr lang="en-US" sz="3000" u="none" strike="noStrike" cap="none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Emphasized need for better regularization and optimization</a:t>
                      </a:r>
                      <a:endParaRPr lang="en-US" sz="2000" u="none" strike="noStrike" cap="none" dirty="0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0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Mixed Precision Training</a:t>
                      </a:r>
                      <a:endParaRPr sz="3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Char char="•"/>
                      </a:pPr>
                      <a:r>
                        <a:rPr lang="en-US" sz="30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Introduced FP16 training with FP32 master weights</a:t>
                      </a:r>
                      <a:endParaRPr sz="2000" u="none" strike="noStrike" cap="none" dirty="0"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Char char="•"/>
                      </a:pPr>
                      <a:r>
                        <a:rPr lang="en-US" sz="30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Used loss scaling to avoid gradient underflow</a:t>
                      </a:r>
                      <a:endParaRPr sz="2000" u="none" strike="noStrike" cap="none" dirty="0"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Char char="•"/>
                      </a:pPr>
                      <a:r>
                        <a:rPr lang="en-US" sz="30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Achieved FP32-level accuracy with higher speed</a:t>
                      </a:r>
                      <a:endParaRPr sz="2000" u="none" strike="noStrike" cap="none" dirty="0"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Char char="•"/>
                      </a:pPr>
                      <a:r>
                        <a:rPr lang="en-US" sz="30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Foundation of modern AMP frameworks</a:t>
                      </a:r>
                      <a:endParaRPr sz="3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7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b="0" i="0" u="none" strike="noStrike" cap="none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Mixture of Experts in Large Language Models</a:t>
                      </a:r>
                      <a:endParaRPr lang="en-US" sz="3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Char char="•"/>
                      </a:pPr>
                      <a:r>
                        <a:rPr lang="en-US" sz="3000" u="none" strike="noStrike" cap="none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Comprehensive taxonomy of </a:t>
                      </a:r>
                      <a:r>
                        <a:rPr lang="en-US" sz="3000" u="none" strike="noStrike" cap="none" dirty="0" err="1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MoE</a:t>
                      </a:r>
                      <a:r>
                        <a:rPr lang="en-US" sz="3000" u="none" strike="noStrike" cap="none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architectures</a:t>
                      </a:r>
                      <a:endParaRPr lang="en-US" sz="2000" u="none" strike="noStrike" cap="none" dirty="0" smtClean="0"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Char char="•"/>
                      </a:pPr>
                      <a:r>
                        <a:rPr lang="en-US" sz="3000" u="none" strike="noStrike" cap="none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Analysis of routing, gating, and expert designs</a:t>
                      </a:r>
                      <a:endParaRPr lang="en-US" sz="2000" u="none" strike="noStrike" cap="none" dirty="0" smtClean="0"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Char char="•"/>
                      </a:pPr>
                      <a:r>
                        <a:rPr lang="en-US" sz="3000" u="none" strike="noStrike" cap="none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Identification of expert imbalance and instability issues</a:t>
                      </a:r>
                      <a:endParaRPr lang="en-US" sz="2000" u="none" strike="noStrike" cap="none" dirty="0" smtClean="0"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Char char="•"/>
                      </a:pPr>
                      <a:r>
                        <a:rPr lang="en-US" sz="3000" u="none" strike="noStrike" cap="none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Emphasis on efficient optimization and deployment </a:t>
                      </a:r>
                      <a:endParaRPr lang="en-US" sz="2000" u="none" strike="noStrike" cap="none" dirty="0" smtClean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3000" u="none" strike="noStrike" cap="none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challenges </a:t>
                      </a:r>
                      <a:endParaRPr lang="en-US" sz="3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5" name="Google Shape;205;p18"/>
          <p:cNvSpPr txBox="1">
            <a:spLocks noGrp="1"/>
          </p:cNvSpPr>
          <p:nvPr>
            <p:ph type="sldNum" idx="12"/>
          </p:nvPr>
        </p:nvSpPr>
        <p:spPr>
          <a:xfrm>
            <a:off x="12264017" y="744744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7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06" name="Google Shape;206;p18"/>
          <p:cNvSpPr txBox="1">
            <a:spLocks noGrp="1"/>
          </p:cNvSpPr>
          <p:nvPr>
            <p:ph type="ftr" idx="11"/>
          </p:nvPr>
        </p:nvSpPr>
        <p:spPr>
          <a:xfrm>
            <a:off x="16487029" y="9739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 dirty="0">
                <a:solidFill>
                  <a:schemeClr val="lt1"/>
                </a:solidFill>
              </a:rPr>
              <a:t>7</a:t>
            </a:r>
            <a:endParaRPr sz="2000" b="1" dirty="0"/>
          </a:p>
        </p:txBody>
      </p:sp>
    </p:spTree>
    <p:extLst>
      <p:ext uri="{BB962C8B-B14F-4D97-AF65-F5344CB8AC3E}">
        <p14:creationId xmlns:p14="http://schemas.microsoft.com/office/powerpoint/2010/main" val="4036562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19"/>
          <p:cNvGrpSpPr/>
          <p:nvPr/>
        </p:nvGrpSpPr>
        <p:grpSpPr>
          <a:xfrm rot="-4319701">
            <a:off x="-7170648" y="-1328602"/>
            <a:ext cx="13180882" cy="5336516"/>
            <a:chOff x="0" y="-76200"/>
            <a:chExt cx="3471547" cy="1405518"/>
          </a:xfrm>
        </p:grpSpPr>
        <p:sp>
          <p:nvSpPr>
            <p:cNvPr id="212" name="Google Shape;212;p19"/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213" name="Google Shape;213;p19"/>
            <p:cNvSpPr txBox="1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19"/>
          <p:cNvSpPr/>
          <p:nvPr/>
        </p:nvSpPr>
        <p:spPr>
          <a:xfrm>
            <a:off x="-442614" y="628630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15" name="Google Shape;215;p19"/>
          <p:cNvGrpSpPr/>
          <p:nvPr/>
        </p:nvGrpSpPr>
        <p:grpSpPr>
          <a:xfrm rot="-4319701">
            <a:off x="11559971" y="5980655"/>
            <a:ext cx="13180882" cy="4579728"/>
            <a:chOff x="0" y="-76200"/>
            <a:chExt cx="3471547" cy="1206197"/>
          </a:xfrm>
        </p:grpSpPr>
        <p:sp>
          <p:nvSpPr>
            <p:cNvPr id="216" name="Google Shape;216;p19"/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217" name="Google Shape;217;p19"/>
            <p:cNvSpPr txBox="1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" name="Google Shape;218;p19"/>
          <p:cNvSpPr/>
          <p:nvPr/>
        </p:nvSpPr>
        <p:spPr>
          <a:xfrm>
            <a:off x="-64837" y="80600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 extrusionOk="0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19" name="Google Shape;219;p19"/>
          <p:cNvSpPr/>
          <p:nvPr/>
        </p:nvSpPr>
        <p:spPr>
          <a:xfrm rot="10800000">
            <a:off x="16546204" y="-61888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0" name="Google Shape;220;p19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 extrusionOk="0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1" name="Google Shape;221;p19"/>
          <p:cNvSpPr/>
          <p:nvPr/>
        </p:nvSpPr>
        <p:spPr>
          <a:xfrm rot="10800000" flipH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 extrusionOk="0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2" name="Google Shape;222;p19"/>
          <p:cNvSpPr txBox="1"/>
          <p:nvPr/>
        </p:nvSpPr>
        <p:spPr>
          <a:xfrm>
            <a:off x="1622276" y="3564675"/>
            <a:ext cx="7023600" cy="32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25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⮚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Decoder only Transformer Backbone</a:t>
            </a:r>
            <a:endParaRPr sz="3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25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⮚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 sparse </a:t>
            </a:r>
            <a:r>
              <a:rPr lang="en-US" sz="3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MoE</a:t>
            </a: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layer instead </a:t>
            </a: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 FFN.</a:t>
            </a:r>
            <a:endParaRPr sz="3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25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⮚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Router selects top-k experts per token.</a:t>
            </a:r>
            <a:endParaRPr sz="3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25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⮚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Aggregate expert outputs with residual normalization.</a:t>
            </a:r>
            <a:endParaRPr sz="3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1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46509" y="2338853"/>
            <a:ext cx="8960920" cy="711123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/>
          <p:nvPr/>
        </p:nvSpPr>
        <p:spPr>
          <a:xfrm>
            <a:off x="3318250" y="1172125"/>
            <a:ext cx="8865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(Paper </a:t>
            </a:r>
            <a:r>
              <a:rPr lang="en-US" sz="6400" b="1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6400" b="1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1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19"/>
          <p:cNvSpPr txBox="1">
            <a:spLocks noGrp="1"/>
          </p:cNvSpPr>
          <p:nvPr>
            <p:ph type="ftr" idx="11"/>
          </p:nvPr>
        </p:nvSpPr>
        <p:spPr>
          <a:xfrm>
            <a:off x="16051624" y="96746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 dirty="0" smtClean="0">
                <a:solidFill>
                  <a:schemeClr val="lt1"/>
                </a:solidFill>
              </a:rPr>
              <a:t>10</a:t>
            </a:r>
            <a:endParaRPr sz="2000" b="1" dirty="0"/>
          </a:p>
        </p:txBody>
      </p:sp>
      <p:sp>
        <p:nvSpPr>
          <p:cNvPr id="17" name="Google Shape;245;p20"/>
          <p:cNvSpPr txBox="1"/>
          <p:nvPr/>
        </p:nvSpPr>
        <p:spPr>
          <a:xfrm>
            <a:off x="9143277" y="9230778"/>
            <a:ext cx="7833176" cy="1077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2 : </a:t>
            </a:r>
            <a:r>
              <a:rPr lang="en-US" sz="2300" b="0" i="0" u="none" strike="noStrike" cap="none" dirty="0" err="1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MoE</a:t>
            </a:r>
            <a:r>
              <a:rPr lang="en-US" sz="2300" b="0" i="0" u="none" strike="noStrike" cap="none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Architecture on Decoder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Transformer </a:t>
            </a:r>
            <a:endParaRPr sz="2300" b="0" i="0" u="none" strike="noStrike" cap="none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20"/>
          <p:cNvGrpSpPr/>
          <p:nvPr/>
        </p:nvGrpSpPr>
        <p:grpSpPr>
          <a:xfrm rot="-4319673">
            <a:off x="-7170490" y="-1328591"/>
            <a:ext cx="13180753" cy="5336650"/>
            <a:chOff x="0" y="-76200"/>
            <a:chExt cx="3471600" cy="1405518"/>
          </a:xfrm>
        </p:grpSpPr>
        <p:sp>
          <p:nvSpPr>
            <p:cNvPr id="231" name="Google Shape;231;p20"/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232" name="Google Shape;232;p20"/>
            <p:cNvSpPr txBox="1"/>
            <p:nvPr/>
          </p:nvSpPr>
          <p:spPr>
            <a:xfrm>
              <a:off x="0" y="-76200"/>
              <a:ext cx="3471600" cy="140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20"/>
          <p:cNvSpPr/>
          <p:nvPr/>
        </p:nvSpPr>
        <p:spPr>
          <a:xfrm>
            <a:off x="-442614" y="628630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34" name="Google Shape;234;p20"/>
          <p:cNvGrpSpPr/>
          <p:nvPr/>
        </p:nvGrpSpPr>
        <p:grpSpPr>
          <a:xfrm rot="-4319673">
            <a:off x="11560306" y="5980541"/>
            <a:ext cx="13180753" cy="4580234"/>
            <a:chOff x="0" y="-76200"/>
            <a:chExt cx="3471600" cy="1206300"/>
          </a:xfrm>
        </p:grpSpPr>
        <p:sp>
          <p:nvSpPr>
            <p:cNvPr id="235" name="Google Shape;235;p20"/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236" name="Google Shape;236;p20"/>
            <p:cNvSpPr txBox="1"/>
            <p:nvPr/>
          </p:nvSpPr>
          <p:spPr>
            <a:xfrm>
              <a:off x="0" y="-76200"/>
              <a:ext cx="3471600" cy="12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20"/>
          <p:cNvSpPr/>
          <p:nvPr/>
        </p:nvSpPr>
        <p:spPr>
          <a:xfrm>
            <a:off x="-64837" y="80600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 extrusionOk="0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38" name="Google Shape;238;p20"/>
          <p:cNvSpPr/>
          <p:nvPr/>
        </p:nvSpPr>
        <p:spPr>
          <a:xfrm rot="10800000">
            <a:off x="16546204" y="-61888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 rot="10800000">
            <a:off x="15975469" y="-12756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 extrusionOk="0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240" name="Google Shape;240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28883" y="2300062"/>
            <a:ext cx="7742084" cy="6757153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0"/>
          <p:cNvSpPr/>
          <p:nvPr/>
        </p:nvSpPr>
        <p:spPr>
          <a:xfrm>
            <a:off x="1671552" y="3554300"/>
            <a:ext cx="4957800" cy="4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Inter"/>
              <a:buNone/>
            </a:pPr>
            <a:r>
              <a:rPr lang="en-US" sz="45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AMP Mechanisms:</a:t>
            </a:r>
            <a:endParaRPr sz="45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1671550" y="4489325"/>
            <a:ext cx="81837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3500"/>
              <a:buFont typeface="Times New Roman"/>
              <a:buChar char="•"/>
            </a:pPr>
            <a:r>
              <a:rPr lang="en-US" sz="3000" b="0" i="0" u="none" strike="noStrike" cap="none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Autocasting</a:t>
            </a:r>
            <a:r>
              <a:rPr lang="en-US" sz="3000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FP16 for compatible operations </a:t>
            </a:r>
            <a:endParaRPr lang="en-US" sz="3000" b="0" i="0" u="none" strike="noStrike" cap="none" dirty="0" smtClean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3500"/>
            </a:pPr>
            <a:r>
              <a:rPr lang="en-US" sz="3000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3000" b="0" i="0" u="none" strike="noStrike" cap="none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000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matrix multiplications).</a:t>
            </a:r>
            <a:endParaRPr sz="3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1603696" y="6059831"/>
            <a:ext cx="127026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3500"/>
              <a:buFont typeface="Times New Roman"/>
              <a:buChar char="•"/>
            </a:pPr>
            <a:r>
              <a:rPr lang="en-US" sz="3000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FP32 Master Copy: Weights stored in </a:t>
            </a:r>
            <a:endParaRPr sz="3000" b="0" i="0" u="none" strike="noStrike" cap="none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000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FP32 to prevent precision loss.</a:t>
            </a:r>
            <a:endParaRPr sz="3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1671546" y="7630323"/>
            <a:ext cx="127026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3500"/>
              <a:buFont typeface="Times New Roman"/>
              <a:buChar char="•"/>
            </a:pPr>
            <a:r>
              <a:rPr lang="en-US" sz="3000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Loss Scaling: Addresses </a:t>
            </a:r>
            <a:endParaRPr sz="3000" b="0" i="0" u="none" strike="noStrike" cap="none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000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gradient underflow in FP16.</a:t>
            </a:r>
            <a:endParaRPr sz="3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9444325" y="9121675"/>
            <a:ext cx="65112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3 </a:t>
            </a:r>
            <a:r>
              <a:rPr lang="en-US" sz="2300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Mixed Precision Training Iteration for a layer</a:t>
            </a:r>
            <a:endParaRPr sz="2300" b="0" i="0" u="none" strike="noStrike" cap="none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3306927" y="1172125"/>
            <a:ext cx="112512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(Paper 2)</a:t>
            </a:r>
            <a:endParaRPr sz="2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20"/>
          <p:cNvSpPr txBox="1">
            <a:spLocks noGrp="1"/>
          </p:cNvSpPr>
          <p:nvPr>
            <p:ph type="ftr" idx="11"/>
          </p:nvPr>
        </p:nvSpPr>
        <p:spPr>
          <a:xfrm>
            <a:off x="16051624" y="96746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>
                <a:solidFill>
                  <a:schemeClr val="lt1"/>
                </a:solidFill>
              </a:rPr>
              <a:t>9</a:t>
            </a:r>
            <a:endParaRPr sz="2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21"/>
          <p:cNvGrpSpPr/>
          <p:nvPr/>
        </p:nvGrpSpPr>
        <p:grpSpPr>
          <a:xfrm rot="-4319701">
            <a:off x="-7170648" y="-1328602"/>
            <a:ext cx="13180882" cy="5336516"/>
            <a:chOff x="0" y="-76200"/>
            <a:chExt cx="3471547" cy="1405518"/>
          </a:xfrm>
        </p:grpSpPr>
        <p:sp>
          <p:nvSpPr>
            <p:cNvPr id="253" name="Google Shape;253;p21"/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254" name="Google Shape;254;p21"/>
            <p:cNvSpPr txBox="1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5" name="Google Shape;255;p21"/>
          <p:cNvSpPr/>
          <p:nvPr/>
        </p:nvSpPr>
        <p:spPr>
          <a:xfrm>
            <a:off x="-442614" y="628630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56" name="Google Shape;256;p21"/>
          <p:cNvGrpSpPr/>
          <p:nvPr/>
        </p:nvGrpSpPr>
        <p:grpSpPr>
          <a:xfrm rot="-4319701">
            <a:off x="11559971" y="5980655"/>
            <a:ext cx="13180882" cy="4579728"/>
            <a:chOff x="0" y="-76200"/>
            <a:chExt cx="3471547" cy="1206197"/>
          </a:xfrm>
        </p:grpSpPr>
        <p:sp>
          <p:nvSpPr>
            <p:cNvPr id="257" name="Google Shape;257;p21"/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258" name="Google Shape;258;p21"/>
            <p:cNvSpPr txBox="1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9" name="Google Shape;259;p21"/>
          <p:cNvSpPr/>
          <p:nvPr/>
        </p:nvSpPr>
        <p:spPr>
          <a:xfrm>
            <a:off x="-64837" y="80600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 extrusionOk="0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60" name="Google Shape;260;p21"/>
          <p:cNvSpPr/>
          <p:nvPr/>
        </p:nvSpPr>
        <p:spPr>
          <a:xfrm rot="10800000">
            <a:off x="16546204" y="-61888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61" name="Google Shape;261;p21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 extrusionOk="0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62" name="Google Shape;262;p21"/>
          <p:cNvSpPr/>
          <p:nvPr/>
        </p:nvSpPr>
        <p:spPr>
          <a:xfrm rot="10800000" flipH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 extrusionOk="0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63" name="Google Shape;263;p21"/>
          <p:cNvSpPr txBox="1"/>
          <p:nvPr/>
        </p:nvSpPr>
        <p:spPr>
          <a:xfrm>
            <a:off x="1589322" y="3672726"/>
            <a:ext cx="14393700" cy="3554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Noto Sans Symbols"/>
              <a:buChar char="⮚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 </a:t>
            </a:r>
            <a:r>
              <a:rPr lang="en-US" sz="3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MoE</a:t>
            </a: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layers in place of dense FFN layers.</a:t>
            </a:r>
            <a:endParaRPr sz="3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Noto Sans Symbols"/>
              <a:buChar char="⮚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Route tokens using a sparse top-k gating network.</a:t>
            </a:r>
            <a:endParaRPr sz="3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Noto Sans Symbols"/>
              <a:buChar char="⮚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Activate only selected experts per input.</a:t>
            </a:r>
            <a:endParaRPr sz="3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Noto Sans Symbols"/>
              <a:buChar char="⮚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Aggregate expert outputs via gate weights.</a:t>
            </a:r>
            <a:endParaRPr sz="3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Noto Sans Symbols"/>
              <a:buChar char="⮚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Enforce expert balance using auxiliary loss.</a:t>
            </a: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4" name="Google Shape;264;p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02641" y="3175049"/>
            <a:ext cx="7141028" cy="4708998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1"/>
          <p:cNvSpPr txBox="1"/>
          <p:nvPr/>
        </p:nvSpPr>
        <p:spPr>
          <a:xfrm>
            <a:off x="3306927" y="1172125"/>
            <a:ext cx="92727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(Paper </a:t>
            </a:r>
            <a:r>
              <a:rPr lang="en-US" sz="6400" b="1" dirty="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6400" b="1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1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10176784" y="7944138"/>
            <a:ext cx="6511200" cy="110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lvl="0" algn="ctr">
              <a:buSzPts val="2300"/>
            </a:pPr>
            <a:r>
              <a:rPr lang="en-US" sz="2400" b="0" i="0" u="none" strike="noStrike" cap="none" dirty="0" smtClean="0">
                <a:solidFill>
                  <a:srgbClr val="27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Figure 4 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illustration of an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layer </a:t>
            </a:r>
          </a:p>
          <a:p>
            <a:pPr lvl="0" algn="ctr">
              <a:buSzPts val="2300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Transformer-based models</a:t>
            </a:r>
            <a:endParaRPr sz="2400" b="0" i="0" u="none" strike="noStrike" cap="none" dirty="0">
              <a:solidFill>
                <a:srgbClr val="272525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67" name="Google Shape;267;p21"/>
          <p:cNvSpPr txBox="1">
            <a:spLocks noGrp="1"/>
          </p:cNvSpPr>
          <p:nvPr>
            <p:ph type="ftr" idx="11"/>
          </p:nvPr>
        </p:nvSpPr>
        <p:spPr>
          <a:xfrm>
            <a:off x="16051624" y="96746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 dirty="0">
                <a:solidFill>
                  <a:schemeClr val="lt1"/>
                </a:solidFill>
              </a:rPr>
              <a:t>8</a:t>
            </a:r>
            <a:endParaRPr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22"/>
          <p:cNvGrpSpPr/>
          <p:nvPr/>
        </p:nvGrpSpPr>
        <p:grpSpPr>
          <a:xfrm rot="-4319673">
            <a:off x="-7170490" y="-1328591"/>
            <a:ext cx="13180753" cy="5336650"/>
            <a:chOff x="0" y="-76200"/>
            <a:chExt cx="3471600" cy="1405518"/>
          </a:xfrm>
        </p:grpSpPr>
        <p:sp>
          <p:nvSpPr>
            <p:cNvPr id="273" name="Google Shape;273;p22"/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274" name="Google Shape;274;p22"/>
            <p:cNvSpPr txBox="1"/>
            <p:nvPr/>
          </p:nvSpPr>
          <p:spPr>
            <a:xfrm>
              <a:off x="0" y="-76200"/>
              <a:ext cx="3471600" cy="140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" name="Google Shape;275;p22"/>
          <p:cNvSpPr/>
          <p:nvPr/>
        </p:nvSpPr>
        <p:spPr>
          <a:xfrm>
            <a:off x="-442614" y="628630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76" name="Google Shape;276;p22"/>
          <p:cNvGrpSpPr/>
          <p:nvPr/>
        </p:nvGrpSpPr>
        <p:grpSpPr>
          <a:xfrm rot="-4319673">
            <a:off x="11560305" y="5980541"/>
            <a:ext cx="13180753" cy="4580234"/>
            <a:chOff x="0" y="-76200"/>
            <a:chExt cx="3471600" cy="1206300"/>
          </a:xfrm>
        </p:grpSpPr>
        <p:sp>
          <p:nvSpPr>
            <p:cNvPr id="277" name="Google Shape;277;p22"/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278" name="Google Shape;278;p22"/>
            <p:cNvSpPr txBox="1"/>
            <p:nvPr/>
          </p:nvSpPr>
          <p:spPr>
            <a:xfrm>
              <a:off x="0" y="-76200"/>
              <a:ext cx="3471600" cy="12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p22"/>
          <p:cNvSpPr/>
          <p:nvPr/>
        </p:nvSpPr>
        <p:spPr>
          <a:xfrm>
            <a:off x="-64837" y="80600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 extrusionOk="0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80" name="Google Shape;280;p22"/>
          <p:cNvSpPr/>
          <p:nvPr/>
        </p:nvSpPr>
        <p:spPr>
          <a:xfrm rot="10800000">
            <a:off x="16546204" y="-61888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81" name="Google Shape;281;p22"/>
          <p:cNvSpPr/>
          <p:nvPr/>
        </p:nvSpPr>
        <p:spPr>
          <a:xfrm rot="10800000">
            <a:off x="15975469" y="-12756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 extrusionOk="0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82" name="Google Shape;282;p22"/>
          <p:cNvSpPr/>
          <p:nvPr/>
        </p:nvSpPr>
        <p:spPr>
          <a:xfrm>
            <a:off x="13569986" y="416406"/>
            <a:ext cx="1988280" cy="562356"/>
          </a:xfrm>
          <a:prstGeom prst="flowChartTerminator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start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12318036" y="1332505"/>
            <a:ext cx="2895600" cy="680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MoE Model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14443036" y="8420430"/>
            <a:ext cx="2778000" cy="8892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 Expert Imbalance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10891986" y="8470555"/>
            <a:ext cx="2895600" cy="789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Tweak &amp; Improvement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9222786" y="4571455"/>
            <a:ext cx="2895600" cy="5622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Quantize Model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10117836" y="3495205"/>
            <a:ext cx="2895600" cy="680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Fix Stability Issues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11074536" y="2424750"/>
            <a:ext cx="2895600" cy="680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Mixed Precision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7886886" y="6599955"/>
            <a:ext cx="3715200" cy="1606800"/>
          </a:xfrm>
          <a:prstGeom prst="diamond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Good Trade-offs?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5941836" y="8371955"/>
            <a:ext cx="2895600" cy="680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 smtClean="0"/>
              <a:t>Expected outcome</a:t>
            </a:r>
            <a:r>
              <a:rPr lang="en-US" sz="2000" dirty="0"/>
              <a:t>: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Optimized </a:t>
            </a:r>
            <a:r>
              <a:rPr lang="en-US" sz="2000" b="0" i="0" u="none" strike="noStrike" cap="none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MoE</a:t>
            </a:r>
            <a:r>
              <a:rPr lang="en-US" sz="2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model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6254836" y="9461156"/>
            <a:ext cx="1988280" cy="562356"/>
          </a:xfrm>
          <a:prstGeom prst="flowChartTerminator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 smtClean="0"/>
              <a:t>Ongoing &amp; future work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8553436" y="5422180"/>
            <a:ext cx="2895600" cy="8892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Evaluate Performance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14284286" y="994605"/>
            <a:ext cx="115200" cy="3378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12951436" y="2017555"/>
            <a:ext cx="115200" cy="395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11815986" y="3081455"/>
            <a:ext cx="115200" cy="4356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11217686" y="4187930"/>
            <a:ext cx="92400" cy="365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10117836" y="5125355"/>
            <a:ext cx="96600" cy="3216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9686886" y="6336255"/>
            <a:ext cx="115200" cy="2676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7027386" y="7404105"/>
            <a:ext cx="115200" cy="951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" name="Google Shape;300;p22"/>
          <p:cNvCxnSpPr>
            <a:stCxn id="299" idx="0"/>
            <a:endCxn id="289" idx="1"/>
          </p:cNvCxnSpPr>
          <p:nvPr/>
        </p:nvCxnSpPr>
        <p:spPr>
          <a:xfrm rot="10800000" flipH="1">
            <a:off x="7084986" y="7403505"/>
            <a:ext cx="801900" cy="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1" name="Google Shape;301;p22"/>
          <p:cNvSpPr/>
          <p:nvPr/>
        </p:nvSpPr>
        <p:spPr>
          <a:xfrm>
            <a:off x="12318036" y="7403505"/>
            <a:ext cx="115200" cy="10668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" name="Google Shape;302;p22"/>
          <p:cNvCxnSpPr>
            <a:stCxn id="289" idx="3"/>
            <a:endCxn id="301" idx="0"/>
          </p:cNvCxnSpPr>
          <p:nvPr/>
        </p:nvCxnSpPr>
        <p:spPr>
          <a:xfrm>
            <a:off x="11602086" y="7403355"/>
            <a:ext cx="773700" cy="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3" name="Google Shape;303;p22"/>
          <p:cNvSpPr/>
          <p:nvPr/>
        </p:nvSpPr>
        <p:spPr>
          <a:xfrm>
            <a:off x="7038786" y="9065755"/>
            <a:ext cx="92400" cy="395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13807811" y="8835905"/>
            <a:ext cx="615000" cy="14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13013436" y="3744205"/>
            <a:ext cx="2114400" cy="1824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13970136" y="2673755"/>
            <a:ext cx="2379000" cy="1824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" name="Google Shape;307;p22"/>
          <p:cNvCxnSpPr/>
          <p:nvPr/>
        </p:nvCxnSpPr>
        <p:spPr>
          <a:xfrm>
            <a:off x="15127836" y="3870655"/>
            <a:ext cx="63600" cy="454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8" name="Google Shape;308;p22"/>
          <p:cNvCxnSpPr>
            <a:stCxn id="306" idx="3"/>
          </p:cNvCxnSpPr>
          <p:nvPr/>
        </p:nvCxnSpPr>
        <p:spPr>
          <a:xfrm>
            <a:off x="16349136" y="2764955"/>
            <a:ext cx="63600" cy="5641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9" name="Google Shape;309;p22"/>
          <p:cNvSpPr/>
          <p:nvPr/>
        </p:nvSpPr>
        <p:spPr>
          <a:xfrm>
            <a:off x="1422052" y="3347845"/>
            <a:ext cx="7702200" cy="22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Autofit/>
          </a:bodyPr>
          <a:lstStyle/>
          <a:p>
            <a:pPr marL="914400" marR="0" lvl="0" indent="-679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Char char="●"/>
            </a:pPr>
            <a:r>
              <a:rPr lang="en-US" sz="3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MoE</a:t>
            </a:r>
            <a:r>
              <a:rPr lang="en-US" sz="3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AMP integration</a:t>
            </a:r>
            <a:endParaRPr sz="3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-679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Char char="●"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Expert Routing Analysis</a:t>
            </a:r>
            <a:endParaRPr sz="3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-679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Char char="●"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Stabilization</a:t>
            </a:r>
            <a:endParaRPr sz="3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-679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Char char="●"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Quantization for Efficiency</a:t>
            </a:r>
            <a:endParaRPr sz="3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-679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Char char="●"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Trade-off Evaluation</a:t>
            </a:r>
            <a:endParaRPr sz="3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p22"/>
          <p:cNvSpPr txBox="1"/>
          <p:nvPr/>
        </p:nvSpPr>
        <p:spPr>
          <a:xfrm>
            <a:off x="2194096" y="1203163"/>
            <a:ext cx="110364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 sz="21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22"/>
          <p:cNvSpPr txBox="1"/>
          <p:nvPr/>
        </p:nvSpPr>
        <p:spPr>
          <a:xfrm>
            <a:off x="7712296" y="9610163"/>
            <a:ext cx="87648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</a:t>
            </a:r>
            <a:r>
              <a:rPr lang="en-US" sz="2300" b="0" i="0" u="none" strike="noStrike" cap="none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: </a:t>
            </a:r>
            <a:r>
              <a:rPr lang="en-US" sz="2300" dirty="0" err="1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MoE</a:t>
            </a:r>
            <a:r>
              <a:rPr lang="en-US" sz="2300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Amp training</a:t>
            </a:r>
            <a:endParaRPr sz="2300" b="0" i="0" u="none" strike="noStrike" cap="none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22"/>
          <p:cNvSpPr txBox="1">
            <a:spLocks noGrp="1"/>
          </p:cNvSpPr>
          <p:nvPr>
            <p:ph type="ftr" idx="11"/>
          </p:nvPr>
        </p:nvSpPr>
        <p:spPr>
          <a:xfrm>
            <a:off x="16204024" y="98270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>
                <a:solidFill>
                  <a:schemeClr val="lt1"/>
                </a:solidFill>
              </a:rPr>
              <a:t>11</a:t>
            </a:r>
            <a:endParaRPr sz="2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23"/>
          <p:cNvGrpSpPr/>
          <p:nvPr/>
        </p:nvGrpSpPr>
        <p:grpSpPr>
          <a:xfrm rot="-4319673">
            <a:off x="-7170490" y="-1328591"/>
            <a:ext cx="13180753" cy="5336650"/>
            <a:chOff x="0" y="-76200"/>
            <a:chExt cx="3471600" cy="1405518"/>
          </a:xfrm>
        </p:grpSpPr>
        <p:sp>
          <p:nvSpPr>
            <p:cNvPr id="318" name="Google Shape;318;p23"/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319" name="Google Shape;319;p23"/>
            <p:cNvSpPr txBox="1"/>
            <p:nvPr/>
          </p:nvSpPr>
          <p:spPr>
            <a:xfrm>
              <a:off x="0" y="-76200"/>
              <a:ext cx="3471600" cy="140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0" name="Google Shape;320;p23"/>
          <p:cNvSpPr/>
          <p:nvPr/>
        </p:nvSpPr>
        <p:spPr>
          <a:xfrm>
            <a:off x="-442614" y="628630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21" name="Google Shape;321;p23"/>
          <p:cNvSpPr/>
          <p:nvPr/>
        </p:nvSpPr>
        <p:spPr>
          <a:xfrm>
            <a:off x="-64837" y="80600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 extrusionOk="0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22" name="Google Shape;322;p23"/>
          <p:cNvSpPr/>
          <p:nvPr/>
        </p:nvSpPr>
        <p:spPr>
          <a:xfrm>
            <a:off x="11944483" y="1319253"/>
            <a:ext cx="3085200" cy="912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Preprocessing: Normalization, Tokenization, Padding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3"/>
          <p:cNvSpPr/>
          <p:nvPr/>
        </p:nvSpPr>
        <p:spPr>
          <a:xfrm>
            <a:off x="11922383" y="2527853"/>
            <a:ext cx="3085236" cy="911736"/>
          </a:xfrm>
          <a:prstGeom prst="flowChartTerminator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Selection: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BanglishBERT, mBERT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3"/>
          <p:cNvSpPr/>
          <p:nvPr/>
        </p:nvSpPr>
        <p:spPr>
          <a:xfrm>
            <a:off x="12256433" y="3840303"/>
            <a:ext cx="2312400" cy="7476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Fine-tuning for specific Task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3"/>
          <p:cNvSpPr/>
          <p:nvPr/>
        </p:nvSpPr>
        <p:spPr>
          <a:xfrm>
            <a:off x="11676583" y="4912303"/>
            <a:ext cx="3574200" cy="1374000"/>
          </a:xfrm>
          <a:prstGeom prst="diamond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Setup:FP32 vs AMP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3"/>
          <p:cNvSpPr/>
          <p:nvPr/>
        </p:nvSpPr>
        <p:spPr>
          <a:xfrm>
            <a:off x="9454733" y="6434473"/>
            <a:ext cx="3428400" cy="8346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Metrics:Accuracy/F1/EM,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  Memory  Throughput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3"/>
          <p:cNvSpPr/>
          <p:nvPr/>
        </p:nvSpPr>
        <p:spPr>
          <a:xfrm>
            <a:off x="12709139" y="7590169"/>
            <a:ext cx="1570200" cy="5508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3"/>
          <p:cNvSpPr/>
          <p:nvPr/>
        </p:nvSpPr>
        <p:spPr>
          <a:xfrm>
            <a:off x="11757183" y="8510601"/>
            <a:ext cx="3574152" cy="934200"/>
          </a:xfrm>
          <a:prstGeom prst="flowChartTerminator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Comparison &amp; Analysis: Impact of Mixed Precision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3"/>
          <p:cNvSpPr/>
          <p:nvPr/>
        </p:nvSpPr>
        <p:spPr>
          <a:xfrm>
            <a:off x="12235383" y="247153"/>
            <a:ext cx="2354508" cy="739368"/>
          </a:xfrm>
          <a:prstGeom prst="flowChartTerminator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 Selection: NER, SA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3"/>
          <p:cNvSpPr/>
          <p:nvPr/>
        </p:nvSpPr>
        <p:spPr>
          <a:xfrm>
            <a:off x="10204983" y="6917611"/>
            <a:ext cx="76200" cy="222600"/>
          </a:xfrm>
          <a:prstGeom prst="downArrow">
            <a:avLst>
              <a:gd name="adj1" fmla="val 50000"/>
              <a:gd name="adj2" fmla="val 26717"/>
            </a:avLst>
          </a:prstGeom>
          <a:solidFill>
            <a:schemeClr val="dk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3"/>
          <p:cNvSpPr/>
          <p:nvPr/>
        </p:nvSpPr>
        <p:spPr>
          <a:xfrm>
            <a:off x="11288133" y="6917603"/>
            <a:ext cx="76200" cy="2226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3"/>
          <p:cNvSpPr/>
          <p:nvPr/>
        </p:nvSpPr>
        <p:spPr>
          <a:xfrm>
            <a:off x="15829433" y="6905803"/>
            <a:ext cx="76200" cy="2316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3"/>
          <p:cNvSpPr/>
          <p:nvPr/>
        </p:nvSpPr>
        <p:spPr>
          <a:xfrm>
            <a:off x="15413483" y="6909800"/>
            <a:ext cx="76200" cy="238200"/>
          </a:xfrm>
          <a:prstGeom prst="upArrow">
            <a:avLst>
              <a:gd name="adj1" fmla="val 42843"/>
              <a:gd name="adj2" fmla="val 50000"/>
            </a:avLst>
          </a:prstGeom>
          <a:solidFill>
            <a:schemeClr val="dk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3"/>
          <p:cNvSpPr/>
          <p:nvPr/>
        </p:nvSpPr>
        <p:spPr>
          <a:xfrm>
            <a:off x="16504583" y="6905003"/>
            <a:ext cx="76200" cy="247800"/>
          </a:xfrm>
          <a:prstGeom prst="upArrow">
            <a:avLst>
              <a:gd name="adj1" fmla="val 42843"/>
              <a:gd name="adj2" fmla="val 50000"/>
            </a:avLst>
          </a:prstGeom>
          <a:solidFill>
            <a:schemeClr val="dk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12709133" y="6897200"/>
            <a:ext cx="76200" cy="238200"/>
          </a:xfrm>
          <a:prstGeom prst="upArrow">
            <a:avLst>
              <a:gd name="adj1" fmla="val 42843"/>
              <a:gd name="adj2" fmla="val 50000"/>
            </a:avLst>
          </a:prstGeom>
          <a:solidFill>
            <a:schemeClr val="dk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13405783" y="986556"/>
            <a:ext cx="115800" cy="333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13407133" y="2231603"/>
            <a:ext cx="115800" cy="296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13407133" y="3439604"/>
            <a:ext cx="115800" cy="3822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3"/>
          <p:cNvSpPr/>
          <p:nvPr/>
        </p:nvSpPr>
        <p:spPr>
          <a:xfrm>
            <a:off x="13405783" y="4579600"/>
            <a:ext cx="115800" cy="333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13521583" y="8173584"/>
            <a:ext cx="115800" cy="333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3"/>
          <p:cNvSpPr/>
          <p:nvPr/>
        </p:nvSpPr>
        <p:spPr>
          <a:xfrm rot="10800000">
            <a:off x="11470183" y="5568673"/>
            <a:ext cx="206400" cy="865800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3"/>
          <p:cNvSpPr/>
          <p:nvPr/>
        </p:nvSpPr>
        <p:spPr>
          <a:xfrm rot="10800000" flipH="1">
            <a:off x="15283283" y="5568673"/>
            <a:ext cx="206400" cy="865800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3" name="Google Shape;343;p23"/>
          <p:cNvCxnSpPr/>
          <p:nvPr/>
        </p:nvCxnSpPr>
        <p:spPr>
          <a:xfrm>
            <a:off x="11498783" y="7215037"/>
            <a:ext cx="8400" cy="598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4" name="Google Shape;344;p23"/>
          <p:cNvSpPr/>
          <p:nvPr/>
        </p:nvSpPr>
        <p:spPr>
          <a:xfrm>
            <a:off x="11498783" y="7792489"/>
            <a:ext cx="1192800" cy="75000"/>
          </a:xfrm>
          <a:prstGeom prst="rightArrow">
            <a:avLst>
              <a:gd name="adj1" fmla="val 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5" name="Google Shape;345;p23"/>
          <p:cNvCxnSpPr/>
          <p:nvPr/>
        </p:nvCxnSpPr>
        <p:spPr>
          <a:xfrm>
            <a:off x="15481283" y="7269076"/>
            <a:ext cx="8400" cy="598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6" name="Google Shape;346;p23"/>
          <p:cNvSpPr/>
          <p:nvPr/>
        </p:nvSpPr>
        <p:spPr>
          <a:xfrm rot="10800000">
            <a:off x="14296883" y="7813562"/>
            <a:ext cx="1192800" cy="75000"/>
          </a:xfrm>
          <a:prstGeom prst="rightArrow">
            <a:avLst>
              <a:gd name="adj1" fmla="val 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7" name="Google Shape;347;p23"/>
          <p:cNvGrpSpPr/>
          <p:nvPr/>
        </p:nvGrpSpPr>
        <p:grpSpPr>
          <a:xfrm rot="-4319701">
            <a:off x="23120175" y="11960849"/>
            <a:ext cx="26362166" cy="9160238"/>
            <a:chOff x="0" y="-76200"/>
            <a:chExt cx="3471600" cy="1206300"/>
          </a:xfrm>
        </p:grpSpPr>
        <p:sp>
          <p:nvSpPr>
            <p:cNvPr id="348" name="Google Shape;348;p23"/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349" name="Google Shape;349;p23"/>
            <p:cNvSpPr txBox="1"/>
            <p:nvPr/>
          </p:nvSpPr>
          <p:spPr>
            <a:xfrm>
              <a:off x="0" y="-76200"/>
              <a:ext cx="3471600" cy="12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1600" tIns="101600" rIns="101600" bIns="1016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0" name="Google Shape;350;p23"/>
          <p:cNvGrpSpPr/>
          <p:nvPr/>
        </p:nvGrpSpPr>
        <p:grpSpPr>
          <a:xfrm rot="-4319701">
            <a:off x="23424975" y="12265649"/>
            <a:ext cx="26362166" cy="9160238"/>
            <a:chOff x="0" y="-76200"/>
            <a:chExt cx="3471600" cy="1206300"/>
          </a:xfrm>
        </p:grpSpPr>
        <p:sp>
          <p:nvSpPr>
            <p:cNvPr id="351" name="Google Shape;351;p23"/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352" name="Google Shape;352;p23"/>
            <p:cNvSpPr txBox="1"/>
            <p:nvPr/>
          </p:nvSpPr>
          <p:spPr>
            <a:xfrm>
              <a:off x="0" y="-76200"/>
              <a:ext cx="3471600" cy="12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1600" tIns="101600" rIns="101600" bIns="1016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3" name="Google Shape;353;p23"/>
          <p:cNvGrpSpPr/>
          <p:nvPr/>
        </p:nvGrpSpPr>
        <p:grpSpPr>
          <a:xfrm rot="-4319673">
            <a:off x="11560305" y="5980541"/>
            <a:ext cx="13180753" cy="4580234"/>
            <a:chOff x="0" y="-76200"/>
            <a:chExt cx="3471600" cy="1206300"/>
          </a:xfrm>
        </p:grpSpPr>
        <p:sp>
          <p:nvSpPr>
            <p:cNvPr id="354" name="Google Shape;354;p23"/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355" name="Google Shape;355;p23"/>
            <p:cNvSpPr txBox="1"/>
            <p:nvPr/>
          </p:nvSpPr>
          <p:spPr>
            <a:xfrm>
              <a:off x="0" y="-76200"/>
              <a:ext cx="3471600" cy="12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6" name="Google Shape;356;p23"/>
          <p:cNvSpPr/>
          <p:nvPr/>
        </p:nvSpPr>
        <p:spPr>
          <a:xfrm rot="10800000">
            <a:off x="16546204" y="-61888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57" name="Google Shape;357;p23"/>
          <p:cNvSpPr/>
          <p:nvPr/>
        </p:nvSpPr>
        <p:spPr>
          <a:xfrm>
            <a:off x="1951400" y="3486700"/>
            <a:ext cx="7702200" cy="22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Autofit/>
          </a:bodyPr>
          <a:lstStyle/>
          <a:p>
            <a:pPr marL="457200" lvl="0" indent="-336550">
              <a:lnSpc>
                <a:spcPct val="75000"/>
              </a:lnSpc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tasks and preprocess data </a:t>
            </a:r>
            <a:endParaRPr lang="en-US"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457200">
              <a:lnSpc>
                <a:spcPct val="75000"/>
              </a:lnSpc>
              <a:buFont typeface="Arial" panose="020B0604020202020204" pitchFamily="34" charset="0"/>
              <a:buChar char="•"/>
            </a:pPr>
            <a:endParaRPr lang="en-US"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>
              <a:lnSpc>
                <a:spcPct val="75000"/>
              </a:lnSpc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pretrained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models and fine-tune.</a:t>
            </a:r>
            <a:endParaRPr lang="en-US"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457200">
              <a:lnSpc>
                <a:spcPct val="75000"/>
              </a:lnSpc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>
              <a:lnSpc>
                <a:spcPct val="75000"/>
              </a:lnSpc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using FP32 and AMP.</a:t>
            </a:r>
            <a:endParaRPr lang="en-US"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457200">
              <a:lnSpc>
                <a:spcPct val="75000"/>
              </a:lnSpc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>
              <a:lnSpc>
                <a:spcPct val="75000"/>
              </a:lnSpc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and compare results to analyze the impact of mixed precision.</a:t>
            </a:r>
            <a:endParaRPr lang="en-US" sz="3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14666833" y="6434473"/>
            <a:ext cx="3428400" cy="8346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Metrics:Accuracy/F1/EM,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  Memory  Throughput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3"/>
          <p:cNvSpPr/>
          <p:nvPr/>
        </p:nvSpPr>
        <p:spPr>
          <a:xfrm>
            <a:off x="16508733" y="6927753"/>
            <a:ext cx="115800" cy="2226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15413483" y="6905003"/>
            <a:ext cx="115800" cy="2226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3"/>
          <p:cNvSpPr/>
          <p:nvPr/>
        </p:nvSpPr>
        <p:spPr>
          <a:xfrm>
            <a:off x="17945233" y="6905011"/>
            <a:ext cx="76200" cy="222600"/>
          </a:xfrm>
          <a:prstGeom prst="downArrow">
            <a:avLst>
              <a:gd name="adj1" fmla="val 50000"/>
              <a:gd name="adj2" fmla="val 26717"/>
            </a:avLst>
          </a:prstGeom>
          <a:solidFill>
            <a:schemeClr val="dk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3"/>
          <p:cNvSpPr txBox="1"/>
          <p:nvPr/>
        </p:nvSpPr>
        <p:spPr>
          <a:xfrm>
            <a:off x="3306928" y="1172125"/>
            <a:ext cx="128274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AMP Implementation</a:t>
            </a:r>
            <a:endParaRPr sz="2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p23"/>
          <p:cNvSpPr txBox="1"/>
          <p:nvPr/>
        </p:nvSpPr>
        <p:spPr>
          <a:xfrm>
            <a:off x="10802740" y="9335928"/>
            <a:ext cx="6511200" cy="110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6 :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Overview of the proposed </a:t>
            </a:r>
          </a:p>
          <a:p>
            <a:pPr lvl="0"/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AMP training methodology </a:t>
            </a: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p23"/>
          <p:cNvSpPr txBox="1">
            <a:spLocks noGrp="1"/>
          </p:cNvSpPr>
          <p:nvPr>
            <p:ph type="ftr" idx="11"/>
          </p:nvPr>
        </p:nvSpPr>
        <p:spPr>
          <a:xfrm>
            <a:off x="16051624" y="96746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>
                <a:solidFill>
                  <a:schemeClr val="lt1"/>
                </a:solidFill>
              </a:rPr>
              <a:t>12</a:t>
            </a:r>
            <a:endParaRPr sz="2000" b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" name="Google Shape;369;p24"/>
          <p:cNvGrpSpPr/>
          <p:nvPr/>
        </p:nvGrpSpPr>
        <p:grpSpPr>
          <a:xfrm rot="-4319673">
            <a:off x="-7170490" y="-1328591"/>
            <a:ext cx="13180753" cy="5336650"/>
            <a:chOff x="0" y="-76200"/>
            <a:chExt cx="3471600" cy="1405518"/>
          </a:xfrm>
        </p:grpSpPr>
        <p:sp>
          <p:nvSpPr>
            <p:cNvPr id="370" name="Google Shape;370;p24"/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371" name="Google Shape;371;p24"/>
            <p:cNvSpPr txBox="1"/>
            <p:nvPr/>
          </p:nvSpPr>
          <p:spPr>
            <a:xfrm>
              <a:off x="0" y="-76200"/>
              <a:ext cx="3471600" cy="140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2" name="Google Shape;372;p24"/>
          <p:cNvSpPr/>
          <p:nvPr/>
        </p:nvSpPr>
        <p:spPr>
          <a:xfrm>
            <a:off x="-442614" y="628630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73" name="Google Shape;373;p24"/>
          <p:cNvGrpSpPr/>
          <p:nvPr/>
        </p:nvGrpSpPr>
        <p:grpSpPr>
          <a:xfrm rot="-4319673">
            <a:off x="11560305" y="5980541"/>
            <a:ext cx="13180753" cy="4580234"/>
            <a:chOff x="0" y="-76200"/>
            <a:chExt cx="3471600" cy="1206300"/>
          </a:xfrm>
        </p:grpSpPr>
        <p:sp>
          <p:nvSpPr>
            <p:cNvPr id="374" name="Google Shape;374;p24"/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375" name="Google Shape;375;p24"/>
            <p:cNvSpPr txBox="1"/>
            <p:nvPr/>
          </p:nvSpPr>
          <p:spPr>
            <a:xfrm>
              <a:off x="0" y="-76200"/>
              <a:ext cx="3471600" cy="12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6" name="Google Shape;376;p24"/>
          <p:cNvSpPr/>
          <p:nvPr/>
        </p:nvSpPr>
        <p:spPr>
          <a:xfrm>
            <a:off x="-64837" y="80600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 extrusionOk="0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77" name="Google Shape;377;p24"/>
          <p:cNvSpPr/>
          <p:nvPr/>
        </p:nvSpPr>
        <p:spPr>
          <a:xfrm rot="10800000">
            <a:off x="16546204" y="-61888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78" name="Google Shape;378;p24"/>
          <p:cNvSpPr/>
          <p:nvPr/>
        </p:nvSpPr>
        <p:spPr>
          <a:xfrm rot="10800000">
            <a:off x="15975469" y="-12756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 extrusionOk="0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79" name="Google Shape;379;p24"/>
          <p:cNvSpPr/>
          <p:nvPr/>
        </p:nvSpPr>
        <p:spPr>
          <a:xfrm>
            <a:off x="2328696" y="6634732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</a:t>
            </a:r>
            <a:r>
              <a:rPr lang="en-US" sz="3300" b="1" i="0" u="none" strike="noStrike" cap="none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en-US" sz="3300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Datasets Used for Evaluating AMP on Bangla NLP Models</a:t>
            </a:r>
            <a:endParaRPr sz="33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24"/>
          <p:cNvSpPr/>
          <p:nvPr/>
        </p:nvSpPr>
        <p:spPr>
          <a:xfrm>
            <a:off x="2338081" y="7387105"/>
            <a:ext cx="16099500" cy="650400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3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p24"/>
          <p:cNvSpPr/>
          <p:nvPr/>
        </p:nvSpPr>
        <p:spPr>
          <a:xfrm>
            <a:off x="2328675" y="7379488"/>
            <a:ext cx="16118100" cy="1671000"/>
          </a:xfrm>
          <a:prstGeom prst="roundRect">
            <a:avLst>
              <a:gd name="adj" fmla="val 2850"/>
            </a:avLst>
          </a:prstGeom>
          <a:noFill/>
          <a:ln w="9550" cap="flat" cmpd="sng">
            <a:solidFill>
              <a:srgbClr val="000000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3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p24"/>
          <p:cNvSpPr/>
          <p:nvPr/>
        </p:nvSpPr>
        <p:spPr>
          <a:xfrm>
            <a:off x="2338076" y="7387100"/>
            <a:ext cx="13866000" cy="650400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3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2563325" y="7369188"/>
            <a:ext cx="47916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3000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Analysis</a:t>
            </a:r>
            <a:endParaRPr sz="3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4" name="Google Shape;384;p24"/>
          <p:cNvSpPr/>
          <p:nvPr/>
        </p:nvSpPr>
        <p:spPr>
          <a:xfrm>
            <a:off x="6598507" y="7385005"/>
            <a:ext cx="34551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3000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BLP-2023</a:t>
            </a:r>
            <a:endParaRPr sz="3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" name="Google Shape;385;p24"/>
          <p:cNvSpPr/>
          <p:nvPr/>
        </p:nvSpPr>
        <p:spPr>
          <a:xfrm>
            <a:off x="9528742" y="7321327"/>
            <a:ext cx="37719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3300" b="0" i="0" u="none" strike="noStrike" cap="none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46,643 samples</a:t>
            </a:r>
            <a:endParaRPr sz="3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" name="Google Shape;386;p24"/>
          <p:cNvSpPr/>
          <p:nvPr/>
        </p:nvSpPr>
        <p:spPr>
          <a:xfrm>
            <a:off x="12793492" y="7263655"/>
            <a:ext cx="41022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3300" b="0" i="0" u="none" strike="noStrike" cap="none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</a:t>
            </a:r>
            <a:r>
              <a:rPr lang="en-US" sz="3300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300" b="0" i="0" u="none" strike="noStrike" cap="none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</a:t>
            </a:r>
            <a:r>
              <a:rPr lang="en-US" sz="3300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Neutral</a:t>
            </a:r>
            <a:endParaRPr sz="33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p24"/>
          <p:cNvSpPr/>
          <p:nvPr/>
        </p:nvSpPr>
        <p:spPr>
          <a:xfrm>
            <a:off x="2338075" y="8037411"/>
            <a:ext cx="16099500" cy="1214100"/>
          </a:xfrm>
          <a:prstGeom prst="rect">
            <a:avLst/>
          </a:prstGeom>
          <a:solidFill>
            <a:srgbClr val="000000">
              <a:alpha val="3529"/>
            </a:srgbClr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3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4"/>
          <p:cNvSpPr/>
          <p:nvPr/>
        </p:nvSpPr>
        <p:spPr>
          <a:xfrm>
            <a:off x="2563325" y="8181138"/>
            <a:ext cx="41022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3000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Named Entity </a:t>
            </a:r>
            <a:endParaRPr lang="en-US" sz="3000" b="0" i="0" u="none" strike="noStrike" cap="none" dirty="0" smtClean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3000" b="0" i="0" u="none" strike="noStrike" cap="none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Recognition</a:t>
            </a:r>
            <a:endParaRPr sz="3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" name="Google Shape;389;p24"/>
          <p:cNvSpPr/>
          <p:nvPr/>
        </p:nvSpPr>
        <p:spPr>
          <a:xfrm>
            <a:off x="6598507" y="8181178"/>
            <a:ext cx="34551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3000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Bangla-</a:t>
            </a:r>
            <a:endParaRPr sz="3000" b="0" i="0" u="none" strike="noStrike" cap="none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3000" b="0" i="0" u="none" strike="noStrike" cap="none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HealthNER</a:t>
            </a:r>
            <a:endParaRPr sz="3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" name="Google Shape;390;p24"/>
          <p:cNvSpPr/>
          <p:nvPr/>
        </p:nvSpPr>
        <p:spPr>
          <a:xfrm>
            <a:off x="9573892" y="8027537"/>
            <a:ext cx="32196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3000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31,783 samples</a:t>
            </a:r>
            <a:endParaRPr sz="3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p24"/>
          <p:cNvSpPr/>
          <p:nvPr/>
        </p:nvSpPr>
        <p:spPr>
          <a:xfrm>
            <a:off x="12809206" y="8069107"/>
            <a:ext cx="41022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3000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entity types (IOB format)</a:t>
            </a:r>
            <a:endParaRPr sz="3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p24"/>
          <p:cNvSpPr/>
          <p:nvPr/>
        </p:nvSpPr>
        <p:spPr>
          <a:xfrm>
            <a:off x="2549315" y="2901821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3000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Fine-tuning popular transformer models with FP32 vs. </a:t>
            </a:r>
            <a:r>
              <a:rPr lang="en-US" sz="3000" b="0" i="0" u="none" strike="noStrike" cap="none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AMP.</a:t>
            </a:r>
            <a:endParaRPr sz="3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2328675" y="3763988"/>
            <a:ext cx="13263440" cy="1827000"/>
          </a:xfrm>
          <a:prstGeom prst="roundRect">
            <a:avLst>
              <a:gd name="adj" fmla="val 3624"/>
            </a:avLst>
          </a:prstGeom>
          <a:solidFill>
            <a:srgbClr val="DADBF1"/>
          </a:solidFill>
          <a:ln w="9550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3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" name="Google Shape;394;p24"/>
          <p:cNvSpPr/>
          <p:nvPr/>
        </p:nvSpPr>
        <p:spPr>
          <a:xfrm>
            <a:off x="2767403" y="4160038"/>
            <a:ext cx="38775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3000" b="1" i="0" u="none" strike="noStrike" cap="none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BanglishBERT</a:t>
            </a:r>
            <a:endParaRPr sz="3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24"/>
          <p:cNvSpPr/>
          <p:nvPr/>
        </p:nvSpPr>
        <p:spPr>
          <a:xfrm>
            <a:off x="2905094" y="4638361"/>
            <a:ext cx="6060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3000" b="1" dirty="0" err="1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BanglaBert</a:t>
            </a:r>
            <a:endParaRPr sz="3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" name="Google Shape;396;p24"/>
          <p:cNvSpPr/>
          <p:nvPr/>
        </p:nvSpPr>
        <p:spPr>
          <a:xfrm>
            <a:off x="9236092" y="4160030"/>
            <a:ext cx="28356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3000" b="1" i="0" u="none" strike="noStrike" cap="none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XLM-R</a:t>
            </a: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3000" b="1" i="0" u="none" strike="noStrike" cap="none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mBert</a:t>
            </a:r>
            <a:endParaRPr sz="3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Google Shape;397;p24"/>
          <p:cNvSpPr/>
          <p:nvPr/>
        </p:nvSpPr>
        <p:spPr>
          <a:xfrm>
            <a:off x="9236100" y="4867475"/>
            <a:ext cx="86115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endParaRPr sz="3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p24"/>
          <p:cNvSpPr txBox="1"/>
          <p:nvPr/>
        </p:nvSpPr>
        <p:spPr>
          <a:xfrm>
            <a:off x="3306925" y="1172125"/>
            <a:ext cx="130428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Diverse Models, Tasks &amp; Datasets</a:t>
            </a:r>
            <a:endParaRPr sz="2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" name="Google Shape;399;p24"/>
          <p:cNvSpPr txBox="1">
            <a:spLocks noGrp="1"/>
          </p:cNvSpPr>
          <p:nvPr>
            <p:ph type="ftr" idx="11"/>
          </p:nvPr>
        </p:nvSpPr>
        <p:spPr>
          <a:xfrm>
            <a:off x="16204024" y="98270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>
                <a:solidFill>
                  <a:schemeClr val="lt1"/>
                </a:solidFill>
              </a:rPr>
              <a:t>13</a:t>
            </a:r>
            <a:endParaRPr sz="2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oogle Shape;404;p25"/>
          <p:cNvGrpSpPr/>
          <p:nvPr/>
        </p:nvGrpSpPr>
        <p:grpSpPr>
          <a:xfrm rot="-4319673">
            <a:off x="11447255" y="6070966"/>
            <a:ext cx="13180753" cy="4580234"/>
            <a:chOff x="0" y="-76200"/>
            <a:chExt cx="3471600" cy="1206300"/>
          </a:xfrm>
        </p:grpSpPr>
        <p:sp>
          <p:nvSpPr>
            <p:cNvPr id="405" name="Google Shape;405;p25"/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406" name="Google Shape;406;p25"/>
            <p:cNvSpPr txBox="1"/>
            <p:nvPr/>
          </p:nvSpPr>
          <p:spPr>
            <a:xfrm>
              <a:off x="0" y="-76200"/>
              <a:ext cx="3471600" cy="12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7" name="Google Shape;407;p25"/>
          <p:cNvSpPr/>
          <p:nvPr/>
        </p:nvSpPr>
        <p:spPr>
          <a:xfrm rot="10800000">
            <a:off x="16546204" y="-61888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08" name="Google Shape;408;p25"/>
          <p:cNvSpPr/>
          <p:nvPr/>
        </p:nvSpPr>
        <p:spPr>
          <a:xfrm rot="10800000">
            <a:off x="15975469" y="-12756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 extrusionOk="0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409" name="Google Shape;409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9600" y="2484950"/>
            <a:ext cx="16052597" cy="6765351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25"/>
          <p:cNvSpPr/>
          <p:nvPr/>
        </p:nvSpPr>
        <p:spPr>
          <a:xfrm>
            <a:off x="4824414" y="9675859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1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</a:t>
            </a:r>
            <a:r>
              <a:rPr lang="en-US" sz="2300" b="1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US" sz="2300" b="0" i="0" u="none" strike="noStrike" cap="none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2300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Comparative Efficiency Metrics (FP32 vs AMP) Across All Tasks</a:t>
            </a:r>
            <a:endParaRPr sz="23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11" name="Google Shape;411;p25"/>
          <p:cNvGrpSpPr/>
          <p:nvPr/>
        </p:nvGrpSpPr>
        <p:grpSpPr>
          <a:xfrm rot="-4319673">
            <a:off x="-7170490" y="-1328591"/>
            <a:ext cx="13180753" cy="5336650"/>
            <a:chOff x="0" y="-76200"/>
            <a:chExt cx="3471600" cy="1405518"/>
          </a:xfrm>
        </p:grpSpPr>
        <p:sp>
          <p:nvSpPr>
            <p:cNvPr id="412" name="Google Shape;412;p25"/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413" name="Google Shape;413;p25"/>
            <p:cNvSpPr txBox="1"/>
            <p:nvPr/>
          </p:nvSpPr>
          <p:spPr>
            <a:xfrm>
              <a:off x="0" y="-76200"/>
              <a:ext cx="3471600" cy="140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4" name="Google Shape;414;p25"/>
          <p:cNvSpPr/>
          <p:nvPr/>
        </p:nvSpPr>
        <p:spPr>
          <a:xfrm>
            <a:off x="-442614" y="628630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5" name="Google Shape;415;p25"/>
          <p:cNvSpPr/>
          <p:nvPr/>
        </p:nvSpPr>
        <p:spPr>
          <a:xfrm>
            <a:off x="-64837" y="80600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 extrusionOk="0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6" name="Google Shape;416;p25"/>
          <p:cNvSpPr txBox="1"/>
          <p:nvPr/>
        </p:nvSpPr>
        <p:spPr>
          <a:xfrm>
            <a:off x="3306928" y="1172125"/>
            <a:ext cx="128112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 Training Efficiency </a:t>
            </a:r>
            <a:endParaRPr sz="2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p25"/>
          <p:cNvSpPr txBox="1">
            <a:spLocks noGrp="1"/>
          </p:cNvSpPr>
          <p:nvPr>
            <p:ph type="ftr" idx="11"/>
          </p:nvPr>
        </p:nvSpPr>
        <p:spPr>
          <a:xfrm>
            <a:off x="16051624" y="96746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>
                <a:solidFill>
                  <a:schemeClr val="lt1"/>
                </a:solidFill>
              </a:rPr>
              <a:t>14</a:t>
            </a:r>
            <a:endParaRPr sz="2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" name="Google Shape;422;p26"/>
          <p:cNvGrpSpPr/>
          <p:nvPr/>
        </p:nvGrpSpPr>
        <p:grpSpPr>
          <a:xfrm rot="-4319673">
            <a:off x="-7170490" y="-1328591"/>
            <a:ext cx="13180753" cy="5336650"/>
            <a:chOff x="0" y="-76200"/>
            <a:chExt cx="3471600" cy="1405518"/>
          </a:xfrm>
        </p:grpSpPr>
        <p:sp>
          <p:nvSpPr>
            <p:cNvPr id="423" name="Google Shape;423;p26"/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424" name="Google Shape;424;p26"/>
            <p:cNvSpPr txBox="1"/>
            <p:nvPr/>
          </p:nvSpPr>
          <p:spPr>
            <a:xfrm>
              <a:off x="0" y="-76200"/>
              <a:ext cx="3471600" cy="140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5" name="Google Shape;425;p26"/>
          <p:cNvSpPr/>
          <p:nvPr/>
        </p:nvSpPr>
        <p:spPr>
          <a:xfrm>
            <a:off x="-442614" y="628630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26" name="Google Shape;426;p26"/>
          <p:cNvGrpSpPr/>
          <p:nvPr/>
        </p:nvGrpSpPr>
        <p:grpSpPr>
          <a:xfrm rot="-4319673">
            <a:off x="11560305" y="5980541"/>
            <a:ext cx="13180753" cy="4580234"/>
            <a:chOff x="0" y="-76200"/>
            <a:chExt cx="3471600" cy="1206300"/>
          </a:xfrm>
        </p:grpSpPr>
        <p:sp>
          <p:nvSpPr>
            <p:cNvPr id="427" name="Google Shape;427;p26"/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428" name="Google Shape;428;p26"/>
            <p:cNvSpPr txBox="1"/>
            <p:nvPr/>
          </p:nvSpPr>
          <p:spPr>
            <a:xfrm>
              <a:off x="0" y="-76200"/>
              <a:ext cx="3471600" cy="12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9" name="Google Shape;429;p26"/>
          <p:cNvSpPr/>
          <p:nvPr/>
        </p:nvSpPr>
        <p:spPr>
          <a:xfrm>
            <a:off x="-64837" y="80600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 extrusionOk="0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30" name="Google Shape;430;p26"/>
          <p:cNvSpPr/>
          <p:nvPr/>
        </p:nvSpPr>
        <p:spPr>
          <a:xfrm rot="10800000">
            <a:off x="16546204" y="-61888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31" name="Google Shape;431;p26"/>
          <p:cNvSpPr/>
          <p:nvPr/>
        </p:nvSpPr>
        <p:spPr>
          <a:xfrm rot="10800000">
            <a:off x="15975469" y="-12756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 extrusionOk="0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32" name="Google Shape;432;p26"/>
          <p:cNvSpPr txBox="1">
            <a:spLocks noGrp="1"/>
          </p:cNvSpPr>
          <p:nvPr>
            <p:ph type="sldNum" idx="12"/>
          </p:nvPr>
        </p:nvSpPr>
        <p:spPr>
          <a:xfrm>
            <a:off x="16051624" y="96746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/>
          </a:p>
        </p:txBody>
      </p:sp>
      <p:pic>
        <p:nvPicPr>
          <p:cNvPr id="433" name="Google Shape;433;p26" title="paergraph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4250" y="3777250"/>
            <a:ext cx="14570952" cy="5687899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26"/>
          <p:cNvSpPr/>
          <p:nvPr/>
        </p:nvSpPr>
        <p:spPr>
          <a:xfrm>
            <a:off x="2387344" y="2831834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0" i="0" u="none" strike="noStrike" cap="none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AMP enables </a:t>
            </a:r>
            <a:r>
              <a:rPr lang="en-US" sz="3500" b="1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larger batch sizes </a:t>
            </a:r>
            <a:r>
              <a:rPr lang="en-US" sz="3500" b="0" i="0" u="none" strike="noStrike" cap="none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without Out-of-Memory (OOM) errors. </a:t>
            </a:r>
            <a:endParaRPr sz="3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26"/>
          <p:cNvSpPr/>
          <p:nvPr/>
        </p:nvSpPr>
        <p:spPr>
          <a:xfrm>
            <a:off x="2710994" y="9666849"/>
            <a:ext cx="12301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Figure </a:t>
            </a: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US" sz="23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 of AMP and Full-Precision Training Across Batch Sizes</a:t>
            </a:r>
            <a:endParaRPr sz="23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" name="Google Shape;436;p26"/>
          <p:cNvSpPr txBox="1"/>
          <p:nvPr/>
        </p:nvSpPr>
        <p:spPr>
          <a:xfrm>
            <a:off x="2387344" y="986186"/>
            <a:ext cx="153534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Size Scalability: Unlocking Potential</a:t>
            </a:r>
            <a:endParaRPr sz="21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27"/>
          <p:cNvGrpSpPr/>
          <p:nvPr/>
        </p:nvGrpSpPr>
        <p:grpSpPr>
          <a:xfrm rot="-4319673">
            <a:off x="-8368790" y="-1396391"/>
            <a:ext cx="13180753" cy="5336650"/>
            <a:chOff x="0" y="-76200"/>
            <a:chExt cx="3471600" cy="1405518"/>
          </a:xfrm>
        </p:grpSpPr>
        <p:sp>
          <p:nvSpPr>
            <p:cNvPr id="442" name="Google Shape;442;p27"/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443" name="Google Shape;443;p27"/>
            <p:cNvSpPr txBox="1"/>
            <p:nvPr/>
          </p:nvSpPr>
          <p:spPr>
            <a:xfrm>
              <a:off x="0" y="-76200"/>
              <a:ext cx="3471600" cy="140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4" name="Google Shape;444;p27"/>
          <p:cNvSpPr/>
          <p:nvPr/>
        </p:nvSpPr>
        <p:spPr>
          <a:xfrm>
            <a:off x="-442614" y="628630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5" name="Google Shape;445;p27"/>
          <p:cNvGrpSpPr/>
          <p:nvPr/>
        </p:nvGrpSpPr>
        <p:grpSpPr>
          <a:xfrm rot="-4319673">
            <a:off x="10362006" y="5912741"/>
            <a:ext cx="13180753" cy="4580234"/>
            <a:chOff x="0" y="-76200"/>
            <a:chExt cx="3471600" cy="1206300"/>
          </a:xfrm>
        </p:grpSpPr>
        <p:sp>
          <p:nvSpPr>
            <p:cNvPr id="446" name="Google Shape;446;p27"/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447" name="Google Shape;447;p27"/>
            <p:cNvSpPr txBox="1"/>
            <p:nvPr/>
          </p:nvSpPr>
          <p:spPr>
            <a:xfrm>
              <a:off x="0" y="-76200"/>
              <a:ext cx="3471600" cy="12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8" name="Google Shape;448;p27"/>
          <p:cNvSpPr/>
          <p:nvPr/>
        </p:nvSpPr>
        <p:spPr>
          <a:xfrm>
            <a:off x="-64837" y="80600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 extrusionOk="0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9" name="Google Shape;449;p27"/>
          <p:cNvSpPr/>
          <p:nvPr/>
        </p:nvSpPr>
        <p:spPr>
          <a:xfrm rot="10800000">
            <a:off x="16546204" y="-61888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0" name="Google Shape;450;p27"/>
          <p:cNvSpPr/>
          <p:nvPr/>
        </p:nvSpPr>
        <p:spPr>
          <a:xfrm rot="10800000">
            <a:off x="15975469" y="-12756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 extrusionOk="0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1" name="Google Shape;451;p27"/>
          <p:cNvSpPr txBox="1"/>
          <p:nvPr/>
        </p:nvSpPr>
        <p:spPr>
          <a:xfrm>
            <a:off x="2030150" y="2943900"/>
            <a:ext cx="9728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Synergistic Benefits (AMP + </a:t>
            </a:r>
            <a:r>
              <a:rPr lang="en-US" sz="3600" dirty="0" err="1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MoE</a:t>
            </a:r>
            <a:r>
              <a:rPr lang="en-US" sz="3600" b="0" i="0" u="none" strike="noStrike" cap="none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Together)</a:t>
            </a:r>
            <a:endParaRPr sz="3600" b="0" i="0" u="none" strike="noStrike" cap="none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2" name="Google Shape;452;p27"/>
          <p:cNvSpPr/>
          <p:nvPr/>
        </p:nvSpPr>
        <p:spPr>
          <a:xfrm>
            <a:off x="2021660" y="4108200"/>
            <a:ext cx="10318200" cy="650400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3000" b="0" i="0" u="none" strike="noStrike" cap="none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" name="Google Shape;453;p27"/>
          <p:cNvSpPr/>
          <p:nvPr/>
        </p:nvSpPr>
        <p:spPr>
          <a:xfrm>
            <a:off x="2013175" y="4100600"/>
            <a:ext cx="12834300" cy="4401000"/>
          </a:xfrm>
          <a:prstGeom prst="roundRect">
            <a:avLst>
              <a:gd name="adj" fmla="val 2850"/>
            </a:avLst>
          </a:prstGeom>
          <a:noFill/>
          <a:ln w="9550" cap="flat" cmpd="sng">
            <a:solidFill>
              <a:srgbClr val="000000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3000" b="0" i="0" u="none" strike="noStrike" cap="none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4" name="Google Shape;454;p27"/>
          <p:cNvSpPr/>
          <p:nvPr/>
        </p:nvSpPr>
        <p:spPr>
          <a:xfrm>
            <a:off x="2021650" y="4108200"/>
            <a:ext cx="12834300" cy="1160400"/>
          </a:xfrm>
          <a:prstGeom prst="rect">
            <a:avLst/>
          </a:prstGeom>
          <a:solidFill>
            <a:schemeClr val="tx2">
              <a:alpha val="3529"/>
            </a:schemeClr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3000" b="0" i="0" u="none" strike="noStrike" cap="none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5" name="Google Shape;455;p27"/>
          <p:cNvSpPr/>
          <p:nvPr/>
        </p:nvSpPr>
        <p:spPr>
          <a:xfrm>
            <a:off x="2247694" y="4092590"/>
            <a:ext cx="3120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3000" b="1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</a:t>
            </a:r>
            <a:endParaRPr sz="3000" b="1" i="0" u="none" strike="noStrike" cap="none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6" name="Google Shape;456;p27"/>
          <p:cNvSpPr/>
          <p:nvPr/>
        </p:nvSpPr>
        <p:spPr>
          <a:xfrm>
            <a:off x="5846833" y="4078550"/>
            <a:ext cx="3120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3000" b="1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Individual Benefit</a:t>
            </a:r>
            <a:endParaRPr sz="3000" b="1" i="0" u="none" strike="noStrike" cap="none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7" name="Google Shape;457;p27"/>
          <p:cNvSpPr/>
          <p:nvPr/>
        </p:nvSpPr>
        <p:spPr>
          <a:xfrm>
            <a:off x="9274667" y="4062577"/>
            <a:ext cx="34068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3000" b="1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Combined Synergy</a:t>
            </a:r>
            <a:endParaRPr sz="3000" b="1" i="0" u="none" strike="noStrike" cap="none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8" name="Google Shape;458;p27"/>
          <p:cNvSpPr/>
          <p:nvPr/>
        </p:nvSpPr>
        <p:spPr>
          <a:xfrm>
            <a:off x="1989175" y="4758563"/>
            <a:ext cx="12882300" cy="1077300"/>
          </a:xfrm>
          <a:prstGeom prst="rect">
            <a:avLst/>
          </a:prstGeom>
          <a:solidFill>
            <a:schemeClr val="bg1">
              <a:alpha val="3529"/>
            </a:schemeClr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3000" b="0" i="0" u="none" strike="noStrike" cap="none">
              <a:solidFill>
                <a:srgbClr val="27252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7"/>
          <p:cNvSpPr/>
          <p:nvPr/>
        </p:nvSpPr>
        <p:spPr>
          <a:xfrm>
            <a:off x="5922088" y="5119320"/>
            <a:ext cx="3120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3000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training</a:t>
            </a:r>
            <a:endParaRPr sz="3000" b="0" i="0" u="none" strike="noStrike" cap="none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0" name="Google Shape;460;p27"/>
          <p:cNvSpPr/>
          <p:nvPr/>
        </p:nvSpPr>
        <p:spPr>
          <a:xfrm>
            <a:off x="9262450" y="4999500"/>
            <a:ext cx="5878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3000" b="0" i="0" u="none" strike="noStrike" cap="none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Fits larger MoE models in GPU </a:t>
            </a:r>
            <a:endParaRPr sz="3000" b="0" i="0" u="none" strike="noStrike" cap="none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p27"/>
          <p:cNvSpPr/>
          <p:nvPr/>
        </p:nvSpPr>
        <p:spPr>
          <a:xfrm>
            <a:off x="2021674" y="5779224"/>
            <a:ext cx="12834300" cy="612300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3000" b="0" i="0" u="none" strike="noStrike" cap="none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2" name="Google Shape;462;p27"/>
          <p:cNvSpPr/>
          <p:nvPr/>
        </p:nvSpPr>
        <p:spPr>
          <a:xfrm>
            <a:off x="2013175" y="5771600"/>
            <a:ext cx="12834300" cy="1323300"/>
          </a:xfrm>
          <a:prstGeom prst="roundRect">
            <a:avLst>
              <a:gd name="adj" fmla="val 2850"/>
            </a:avLst>
          </a:prstGeom>
          <a:noFill/>
          <a:ln w="9550" cap="flat" cmpd="sng">
            <a:solidFill>
              <a:srgbClr val="000000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3000" b="0" i="0" u="none" strike="noStrike" cap="none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3" name="Google Shape;463;p27"/>
          <p:cNvSpPr/>
          <p:nvPr/>
        </p:nvSpPr>
        <p:spPr>
          <a:xfrm>
            <a:off x="2021660" y="5779200"/>
            <a:ext cx="10318200" cy="650400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3000" b="0" i="0" u="none" strike="noStrike" cap="none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4" name="Google Shape;464;p27"/>
          <p:cNvSpPr/>
          <p:nvPr/>
        </p:nvSpPr>
        <p:spPr>
          <a:xfrm>
            <a:off x="5869125" y="5922976"/>
            <a:ext cx="29526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3000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Massive capacity, sparse activation</a:t>
            </a:r>
            <a:endParaRPr sz="3000" b="0" i="0" u="none" strike="noStrike" cap="none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5" name="Google Shape;465;p27"/>
          <p:cNvSpPr/>
          <p:nvPr/>
        </p:nvSpPr>
        <p:spPr>
          <a:xfrm>
            <a:off x="9262454" y="6012175"/>
            <a:ext cx="5924100" cy="7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3000" b="0" i="0" u="none" strike="noStrike" cap="none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expressivity, faster training</a:t>
            </a:r>
            <a:endParaRPr sz="3000" b="0" i="0" u="none" strike="noStrike" cap="none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6" name="Google Shape;466;p27"/>
          <p:cNvSpPr/>
          <p:nvPr/>
        </p:nvSpPr>
        <p:spPr>
          <a:xfrm>
            <a:off x="2275076" y="5083575"/>
            <a:ext cx="3120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3000" b="0" i="0" u="none" strike="noStrike" cap="none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AMP</a:t>
            </a:r>
            <a:endParaRPr sz="3000" b="0" i="0" u="none" strike="noStrike" cap="none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7" name="Google Shape;467;p27"/>
          <p:cNvSpPr/>
          <p:nvPr/>
        </p:nvSpPr>
        <p:spPr>
          <a:xfrm>
            <a:off x="2275076" y="5922925"/>
            <a:ext cx="3120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3000" b="0" i="0" u="none" strike="noStrike" cap="none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MoE</a:t>
            </a:r>
            <a:endParaRPr sz="3000" b="0" i="0" u="none" strike="noStrike" cap="none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p27"/>
          <p:cNvSpPr/>
          <p:nvPr/>
        </p:nvSpPr>
        <p:spPr>
          <a:xfrm>
            <a:off x="2030142" y="6951100"/>
            <a:ext cx="10318200" cy="650400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3000" b="0" i="0" u="none" strike="noStrike" cap="none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9" name="Google Shape;469;p27"/>
          <p:cNvSpPr/>
          <p:nvPr/>
        </p:nvSpPr>
        <p:spPr>
          <a:xfrm>
            <a:off x="1989175" y="7148650"/>
            <a:ext cx="12882300" cy="1323300"/>
          </a:xfrm>
          <a:prstGeom prst="roundRect">
            <a:avLst>
              <a:gd name="adj" fmla="val 2850"/>
            </a:avLst>
          </a:prstGeom>
          <a:noFill/>
          <a:ln w="9550" cap="flat" cmpd="sng">
            <a:solidFill>
              <a:srgbClr val="000000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3000" b="0" i="0" u="none" strike="noStrike" cap="none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0" name="Google Shape;470;p27"/>
          <p:cNvSpPr/>
          <p:nvPr/>
        </p:nvSpPr>
        <p:spPr>
          <a:xfrm>
            <a:off x="2021650" y="7189150"/>
            <a:ext cx="12834300" cy="1282800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3000" b="0" i="0" u="none" strike="noStrike" cap="none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1" name="Google Shape;471;p27"/>
          <p:cNvSpPr/>
          <p:nvPr/>
        </p:nvSpPr>
        <p:spPr>
          <a:xfrm>
            <a:off x="5932489" y="7182013"/>
            <a:ext cx="3120000" cy="12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3000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Expands scale, accelerates training</a:t>
            </a:r>
            <a:endParaRPr sz="3000" b="0" i="0" u="none" strike="noStrike" cap="none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2" name="Google Shape;472;p27"/>
          <p:cNvSpPr/>
          <p:nvPr/>
        </p:nvSpPr>
        <p:spPr>
          <a:xfrm>
            <a:off x="9316150" y="7148675"/>
            <a:ext cx="5972100" cy="13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3000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High-capacity, memory-efficient </a:t>
            </a:r>
            <a:endParaRPr sz="3000" b="0" i="0" u="none" strike="noStrike" cap="none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3000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</a:t>
            </a:r>
            <a:endParaRPr sz="3000" b="0" i="0" u="none" strike="noStrike" cap="none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3" name="Google Shape;473;p27"/>
          <p:cNvSpPr/>
          <p:nvPr/>
        </p:nvSpPr>
        <p:spPr>
          <a:xfrm>
            <a:off x="2283558" y="7094825"/>
            <a:ext cx="3120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3000" b="0" i="0" u="none" strike="noStrike" cap="none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Together</a:t>
            </a:r>
            <a:endParaRPr sz="3000" b="0" i="0" u="none" strike="noStrike" cap="none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4" name="Google Shape;474;p27"/>
          <p:cNvSpPr txBox="1"/>
          <p:nvPr/>
        </p:nvSpPr>
        <p:spPr>
          <a:xfrm>
            <a:off x="3306928" y="1172125"/>
            <a:ext cx="12744696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</a:t>
            </a:r>
            <a:r>
              <a:rPr lang="en-US" sz="64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Should </a:t>
            </a:r>
            <a:r>
              <a:rPr lang="en-US" sz="6400" b="1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AMP </a:t>
            </a:r>
            <a:r>
              <a:rPr lang="en-US" sz="6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US" sz="64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MoE</a:t>
            </a:r>
            <a:r>
              <a:rPr lang="en-US" sz="6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Works?</a:t>
            </a:r>
            <a:endParaRPr sz="21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5" name="Google Shape;475;p27"/>
          <p:cNvSpPr txBox="1">
            <a:spLocks noGrp="1"/>
          </p:cNvSpPr>
          <p:nvPr>
            <p:ph type="ftr" idx="11"/>
          </p:nvPr>
        </p:nvSpPr>
        <p:spPr>
          <a:xfrm>
            <a:off x="16051624" y="96746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>
                <a:solidFill>
                  <a:schemeClr val="lt1"/>
                </a:solidFill>
              </a:rPr>
              <a:t>16</a:t>
            </a:r>
            <a:endParaRPr sz="2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0" name="Google Shape;480;p28"/>
          <p:cNvGrpSpPr/>
          <p:nvPr/>
        </p:nvGrpSpPr>
        <p:grpSpPr>
          <a:xfrm rot="-4319701">
            <a:off x="-7170648" y="-1328602"/>
            <a:ext cx="13180882" cy="5336516"/>
            <a:chOff x="0" y="-76200"/>
            <a:chExt cx="3471547" cy="1405518"/>
          </a:xfrm>
        </p:grpSpPr>
        <p:sp>
          <p:nvSpPr>
            <p:cNvPr id="481" name="Google Shape;481;p28"/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482" name="Google Shape;482;p28"/>
            <p:cNvSpPr txBox="1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3" name="Google Shape;483;p28"/>
          <p:cNvSpPr/>
          <p:nvPr/>
        </p:nvSpPr>
        <p:spPr>
          <a:xfrm>
            <a:off x="-442614" y="628630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84" name="Google Shape;484;p28"/>
          <p:cNvGrpSpPr/>
          <p:nvPr/>
        </p:nvGrpSpPr>
        <p:grpSpPr>
          <a:xfrm rot="-4319701">
            <a:off x="11559971" y="5980655"/>
            <a:ext cx="13180882" cy="4579728"/>
            <a:chOff x="0" y="-76200"/>
            <a:chExt cx="3471547" cy="1206197"/>
          </a:xfrm>
        </p:grpSpPr>
        <p:sp>
          <p:nvSpPr>
            <p:cNvPr id="485" name="Google Shape;485;p28"/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486" name="Google Shape;486;p28"/>
            <p:cNvSpPr txBox="1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7" name="Google Shape;487;p28"/>
          <p:cNvSpPr/>
          <p:nvPr/>
        </p:nvSpPr>
        <p:spPr>
          <a:xfrm>
            <a:off x="-64837" y="80600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 extrusionOk="0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88" name="Google Shape;488;p28"/>
          <p:cNvSpPr/>
          <p:nvPr/>
        </p:nvSpPr>
        <p:spPr>
          <a:xfrm rot="10800000">
            <a:off x="16546204" y="-61888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89" name="Google Shape;489;p28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 extrusionOk="0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90" name="Google Shape;490;p28"/>
          <p:cNvSpPr/>
          <p:nvPr/>
        </p:nvSpPr>
        <p:spPr>
          <a:xfrm rot="10800000" flipH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 extrusionOk="0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91" name="Google Shape;491;p28"/>
          <p:cNvSpPr txBox="1"/>
          <p:nvPr/>
        </p:nvSpPr>
        <p:spPr>
          <a:xfrm>
            <a:off x="3306923" y="1172137"/>
            <a:ext cx="52071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2" name="Google Shape;492;p28"/>
          <p:cNvSpPr txBox="1"/>
          <p:nvPr/>
        </p:nvSpPr>
        <p:spPr>
          <a:xfrm>
            <a:off x="3306925" y="2465250"/>
            <a:ext cx="12845400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2700"/>
            </a:pPr>
            <a:r>
              <a:rPr lang="en-US" sz="30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Proposed: </a:t>
            </a:r>
            <a:r>
              <a:rPr lang="en-US" sz="3000" dirty="0" smtClean="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unified method combining </a:t>
            </a:r>
            <a:r>
              <a:rPr lang="en-US" sz="3000" dirty="0" err="1">
                <a:latin typeface="Times New Roman"/>
                <a:ea typeface="Times New Roman"/>
                <a:cs typeface="Times New Roman"/>
                <a:sym typeface="Times New Roman"/>
              </a:rPr>
              <a:t>MoE</a:t>
            </a: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 and mixed precision to create efficient, lightweight transformers.</a:t>
            </a:r>
          </a:p>
          <a:p>
            <a:pPr lvl="0">
              <a:buSzPts val="2700"/>
            </a:pPr>
            <a:endParaRPr lang="en-US" sz="3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buSzPts val="2700"/>
            </a:pPr>
            <a:r>
              <a:rPr lang="en-US" sz="30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Goal: </a:t>
            </a:r>
            <a:r>
              <a:rPr lang="en-US" sz="3000" dirty="0" smtClean="0">
                <a:latin typeface="Times New Roman"/>
                <a:ea typeface="Times New Roman"/>
                <a:cs typeface="Times New Roman"/>
                <a:sym typeface="Times New Roman"/>
              </a:rPr>
              <a:t>Achieve </a:t>
            </a: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high capacity and fast training without losing accuracy.</a:t>
            </a:r>
          </a:p>
          <a:p>
            <a:pPr lvl="0">
              <a:buSzPts val="2700"/>
            </a:pPr>
            <a:endParaRPr lang="en-US" sz="3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buSzPts val="2700"/>
            </a:pPr>
            <a:r>
              <a:rPr lang="en-US" sz="30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Significance: </a:t>
            </a:r>
            <a:r>
              <a:rPr lang="en-US" sz="3000" dirty="0" smtClean="0">
                <a:latin typeface="Times New Roman"/>
                <a:ea typeface="Times New Roman"/>
                <a:cs typeface="Times New Roman"/>
                <a:sym typeface="Times New Roman"/>
              </a:rPr>
              <a:t>Enables </a:t>
            </a: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powerful model training on limited hardware.</a:t>
            </a:r>
          </a:p>
          <a:p>
            <a:pPr lvl="0">
              <a:buSzPts val="2700"/>
            </a:pPr>
            <a:endParaRPr lang="en-US" sz="3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buSzPts val="2700"/>
            </a:pPr>
            <a:r>
              <a:rPr lang="en-US" sz="3000" b="1" dirty="0">
                <a:latin typeface="Times New Roman"/>
                <a:ea typeface="Times New Roman"/>
                <a:cs typeface="Times New Roman"/>
                <a:sym typeface="Times New Roman"/>
              </a:rPr>
              <a:t>Next </a:t>
            </a:r>
            <a:r>
              <a:rPr lang="en-US" sz="30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Steps: </a:t>
            </a:r>
            <a:r>
              <a:rPr lang="en-US" sz="3000" dirty="0" smtClean="0">
                <a:latin typeface="Times New Roman"/>
                <a:ea typeface="Times New Roman"/>
                <a:cs typeface="Times New Roman"/>
                <a:sym typeface="Times New Roman"/>
              </a:rPr>
              <a:t>Test </a:t>
            </a: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on </a:t>
            </a:r>
            <a:r>
              <a:rPr lang="en-US" sz="3000" dirty="0" smtClean="0">
                <a:latin typeface="Times New Roman"/>
                <a:ea typeface="Times New Roman"/>
                <a:cs typeface="Times New Roman"/>
                <a:sym typeface="Times New Roman"/>
              </a:rPr>
              <a:t>NLP </a:t>
            </a: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tasks and explore quantized </a:t>
            </a:r>
            <a:r>
              <a:rPr lang="en-US" sz="3000" dirty="0" err="1">
                <a:latin typeface="Times New Roman"/>
                <a:ea typeface="Times New Roman"/>
                <a:cs typeface="Times New Roman"/>
                <a:sym typeface="Times New Roman"/>
              </a:rPr>
              <a:t>MoE</a:t>
            </a: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 deployment.</a:t>
            </a:r>
            <a:endParaRPr sz="300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3" name="Google Shape;493;p28"/>
          <p:cNvSpPr txBox="1">
            <a:spLocks noGrp="1"/>
          </p:cNvSpPr>
          <p:nvPr>
            <p:ph type="ftr" idx="11"/>
          </p:nvPr>
        </p:nvSpPr>
        <p:spPr>
          <a:xfrm>
            <a:off x="16051624" y="96746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>
                <a:solidFill>
                  <a:schemeClr val="lt1"/>
                </a:solidFill>
              </a:rPr>
              <a:t>17</a:t>
            </a:r>
            <a:endParaRPr sz="2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" name="Google Shape;498;p29"/>
          <p:cNvGrpSpPr/>
          <p:nvPr/>
        </p:nvGrpSpPr>
        <p:grpSpPr>
          <a:xfrm rot="-4319701">
            <a:off x="-8491518" y="-957471"/>
            <a:ext cx="13181083" cy="5336516"/>
            <a:chOff x="0" y="-76200"/>
            <a:chExt cx="3471600" cy="1405518"/>
          </a:xfrm>
        </p:grpSpPr>
        <p:sp>
          <p:nvSpPr>
            <p:cNvPr id="499" name="Google Shape;499;p29"/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500" name="Google Shape;500;p29"/>
            <p:cNvSpPr txBox="1"/>
            <p:nvPr/>
          </p:nvSpPr>
          <p:spPr>
            <a:xfrm>
              <a:off x="0" y="-76200"/>
              <a:ext cx="3471600" cy="140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1" name="Google Shape;501;p29"/>
          <p:cNvSpPr/>
          <p:nvPr/>
        </p:nvSpPr>
        <p:spPr>
          <a:xfrm>
            <a:off x="-442632" y="6169429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502" name="Google Shape;502;p29"/>
          <p:cNvGrpSpPr/>
          <p:nvPr/>
        </p:nvGrpSpPr>
        <p:grpSpPr>
          <a:xfrm rot="-4319701">
            <a:off x="11560088" y="5980425"/>
            <a:ext cx="13181083" cy="4580119"/>
            <a:chOff x="0" y="-76200"/>
            <a:chExt cx="3471600" cy="1206300"/>
          </a:xfrm>
        </p:grpSpPr>
        <p:sp>
          <p:nvSpPr>
            <p:cNvPr id="503" name="Google Shape;503;p29"/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504" name="Google Shape;504;p29"/>
            <p:cNvSpPr txBox="1"/>
            <p:nvPr/>
          </p:nvSpPr>
          <p:spPr>
            <a:xfrm>
              <a:off x="0" y="-76200"/>
              <a:ext cx="3471600" cy="12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5" name="Google Shape;505;p29"/>
          <p:cNvSpPr/>
          <p:nvPr/>
        </p:nvSpPr>
        <p:spPr>
          <a:xfrm rot="10800000">
            <a:off x="14470870" y="6490580"/>
            <a:ext cx="4436419" cy="4824276"/>
          </a:xfrm>
          <a:custGeom>
            <a:avLst/>
            <a:gdLst/>
            <a:ahLst/>
            <a:cxnLst/>
            <a:rect l="l" t="t" r="r" b="b"/>
            <a:pathLst>
              <a:path w="4436419" h="4824276" extrusionOk="0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06" name="Google Shape;506;p29"/>
          <p:cNvSpPr/>
          <p:nvPr/>
        </p:nvSpPr>
        <p:spPr>
          <a:xfrm>
            <a:off x="-64837" y="80600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 extrusionOk="0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07" name="Google Shape;507;p29"/>
          <p:cNvSpPr/>
          <p:nvPr/>
        </p:nvSpPr>
        <p:spPr>
          <a:xfrm rot="10800000">
            <a:off x="16546204" y="-61888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08" name="Google Shape;508;p29"/>
          <p:cNvSpPr/>
          <p:nvPr/>
        </p:nvSpPr>
        <p:spPr>
          <a:xfrm rot="10800000">
            <a:off x="15975469" y="-12756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 extrusionOk="0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09" name="Google Shape;509;p29"/>
          <p:cNvSpPr/>
          <p:nvPr/>
        </p:nvSpPr>
        <p:spPr>
          <a:xfrm>
            <a:off x="1931689" y="2959530"/>
            <a:ext cx="14881800" cy="9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40004" marR="0" lvl="0" indent="-457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96"/>
              <a:buFont typeface="+mj-lt"/>
              <a:buAutoNum type="arabicPeriod"/>
            </a:pP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K. Wang, Z. Liu, Y. Lin, J. Lin, and S. Han, “HAQ: Hardware-Aware Automated Quantization with Mixed Precision,” in CVPR, 2019.</a:t>
            </a:r>
            <a:endParaRPr sz="2296" b="0" i="0" u="none" strike="noStrike" cap="none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0" marR="0" lvl="1" indent="-457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96"/>
              <a:buFont typeface="+mj-lt"/>
              <a:buAutoNum type="arabicPeriod"/>
            </a:pPr>
            <a:endParaRPr sz="2296" b="0" i="0" u="none" strike="noStrike" cap="none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0" marR="0" lvl="1" indent="-457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96"/>
              <a:buFont typeface="+mj-lt"/>
              <a:buAutoNum type="arabicPeriod"/>
            </a:pPr>
            <a:endParaRPr sz="2296" b="0" i="0" u="none" strike="noStrike" cap="none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0" name="Google Shape;510;p29"/>
          <p:cNvSpPr/>
          <p:nvPr/>
        </p:nvSpPr>
        <p:spPr>
          <a:xfrm>
            <a:off x="1931688" y="3884788"/>
            <a:ext cx="19099511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82804" marR="0" lvl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96"/>
            </a:pPr>
            <a:r>
              <a:rPr lang="en-US" sz="2296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  </a:t>
            </a:r>
            <a:r>
              <a:rPr lang="en-US" sz="2296" b="0" i="0" u="none" strike="noStrike" cap="none" dirty="0" err="1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Z.Dong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Z. Yao, A. </a:t>
            </a:r>
            <a:r>
              <a:rPr lang="en-US" sz="2296" b="0" i="0" u="none" strike="noStrike" cap="none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Gholami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M. W. Mahoney, and K. </a:t>
            </a:r>
            <a:r>
              <a:rPr lang="en-US" sz="2296" b="0" i="0" u="none" strike="noStrike" cap="none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Keutzer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“HAWQ: Hessian Aware Quantization of Neural </a:t>
            </a:r>
            <a:endParaRPr lang="en-US" sz="2296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2804" marR="0" lvl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96"/>
            </a:pPr>
            <a:r>
              <a:rPr lang="en-US" sz="2296" b="0" i="0" u="none" strike="noStrike" cap="none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Networks 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Mixed-Precision,” in ICCV, 2019</a:t>
            </a:r>
            <a:endParaRPr sz="2296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1" name="Google Shape;511;p29"/>
          <p:cNvSpPr/>
          <p:nvPr/>
        </p:nvSpPr>
        <p:spPr>
          <a:xfrm>
            <a:off x="1931688" y="4733221"/>
            <a:ext cx="19418825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40004" marR="0" lvl="0" indent="-457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96"/>
              <a:buAutoNum type="arabicPeriod" startAt="3"/>
            </a:pPr>
            <a:r>
              <a:rPr lang="en-US" sz="2296" b="0" i="0" u="none" strike="noStrike" cap="none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Xiao, J. Lin, M. </a:t>
            </a:r>
            <a:r>
              <a:rPr lang="en-US" sz="2296" b="0" i="0" u="none" strike="noStrike" cap="none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Seznec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J. </a:t>
            </a:r>
            <a:r>
              <a:rPr lang="en-US" sz="2296" b="0" i="0" u="none" strike="noStrike" cap="none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Demouth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S. Han, “</a:t>
            </a:r>
            <a:r>
              <a:rPr lang="en-US" sz="2296" b="0" i="0" u="none" strike="noStrike" cap="none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SmoothQuant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Accurate and Efficient Post-Training Quantization </a:t>
            </a:r>
            <a:endParaRPr lang="en-US" sz="2296" b="0" i="0" u="none" strike="noStrike" cap="none" dirty="0" smtClean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2804" marR="0" lvl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96"/>
            </a:pPr>
            <a:r>
              <a:rPr lang="en-US" sz="2296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6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2296" b="0" i="0" u="none" strike="noStrike" cap="none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Language Models,” </a:t>
            </a:r>
            <a:r>
              <a:rPr lang="en-US" sz="2296" b="0" i="0" u="none" strike="noStrike" cap="none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ArXiv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abs/2211.10438, 2022.</a:t>
            </a:r>
            <a:endParaRPr sz="2296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2" name="Google Shape;512;p29"/>
          <p:cNvSpPr/>
          <p:nvPr/>
        </p:nvSpPr>
        <p:spPr>
          <a:xfrm>
            <a:off x="1931688" y="5651843"/>
            <a:ext cx="18896311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40004" marR="0" lvl="0" indent="-457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96"/>
              <a:buAutoNum type="arabicPeriod" startAt="4"/>
            </a:pPr>
            <a:r>
              <a:rPr lang="en-US" sz="2296" b="0" i="0" u="none" strike="noStrike" cap="none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2296" b="0" i="0" u="none" strike="noStrike" cap="none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Frantar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S. </a:t>
            </a:r>
            <a:r>
              <a:rPr lang="en-US" sz="2296" b="0" i="0" u="none" strike="noStrike" cap="none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Ashkboos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T. </a:t>
            </a:r>
            <a:r>
              <a:rPr lang="en-US" sz="2296" b="0" i="0" u="none" strike="noStrike" cap="none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Hoefler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D. </a:t>
            </a:r>
            <a:r>
              <a:rPr lang="en-US" sz="2296" b="0" i="0" u="none" strike="noStrike" cap="none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Alistarh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“GPTQ: Accurate Post-Training Quantization for </a:t>
            </a:r>
            <a:r>
              <a:rPr lang="en-US" sz="2296" b="0" i="0" u="none" strike="noStrike" cap="none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Generative Pre-</a:t>
            </a:r>
          </a:p>
          <a:p>
            <a:pPr marL="82804" marR="0" lvl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96"/>
            </a:pPr>
            <a:r>
              <a:rPr lang="en-US" sz="2296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6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2296" b="0" i="0" u="none" strike="noStrike" cap="none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trained 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Transformers,” </a:t>
            </a:r>
            <a:r>
              <a:rPr lang="en-US" sz="2296" b="0" i="0" u="none" strike="noStrike" cap="none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ArXiv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abs/2210.17323, 2022.</a:t>
            </a:r>
            <a:endParaRPr sz="2296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3" name="Google Shape;513;p29"/>
          <p:cNvSpPr/>
          <p:nvPr/>
        </p:nvSpPr>
        <p:spPr>
          <a:xfrm>
            <a:off x="1931688" y="6570466"/>
            <a:ext cx="16728697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40004" marR="0" lvl="0" indent="-457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96"/>
              <a:buAutoNum type="arabicPeriod" startAt="5"/>
            </a:pPr>
            <a:r>
              <a:rPr lang="en-US" sz="2296" b="0" i="0" u="none" strike="noStrike" cap="none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Lin, J. Tang, H. Tang, S. Yang, W.-M. Chen, W.-C. Wang, G. Xiao, X. Dang, C. </a:t>
            </a:r>
            <a:r>
              <a:rPr lang="en-US" sz="2296" b="0" i="0" u="none" strike="noStrike" cap="none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Gan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S. Han, “AWQ: </a:t>
            </a:r>
            <a:r>
              <a:rPr lang="en-US" sz="2296" b="0" i="0" u="none" strike="noStrike" cap="none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Activation</a:t>
            </a:r>
          </a:p>
          <a:p>
            <a:pPr marL="82804" marR="0" lvl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96"/>
            </a:pPr>
            <a:r>
              <a:rPr lang="en-US" sz="2296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6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2296" b="0" i="0" u="none" strike="noStrike" cap="none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aware Weight Quantization for On-device LLM Compression and Acceleration,” in </a:t>
            </a:r>
            <a:r>
              <a:rPr lang="en-US" sz="2296" b="0" i="0" u="none" strike="noStrike" cap="none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MLSys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2024.</a:t>
            </a:r>
            <a:endParaRPr sz="2296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4" name="Google Shape;514;p29"/>
          <p:cNvSpPr/>
          <p:nvPr/>
        </p:nvSpPr>
        <p:spPr>
          <a:xfrm>
            <a:off x="1931689" y="7489087"/>
            <a:ext cx="16728696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40004" marR="0" lvl="0" indent="-457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96"/>
              <a:buAutoNum type="arabicPeriod" startAt="6"/>
            </a:pPr>
            <a:r>
              <a:rPr lang="en-US" sz="2296" b="0" i="0" u="none" strike="noStrike" cap="none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2296" b="0" i="0" u="none" strike="noStrike" cap="none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Ashkboos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A. </a:t>
            </a:r>
            <a:r>
              <a:rPr lang="en-US" sz="2296" b="0" i="0" u="none" strike="noStrike" cap="none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Mohtashami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M. L. </a:t>
            </a:r>
            <a:r>
              <a:rPr lang="en-US" sz="2296" b="0" i="0" u="none" strike="noStrike" cap="none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Croci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B. Li, P. Cameron, M. </a:t>
            </a:r>
            <a:r>
              <a:rPr lang="en-US" sz="2296" b="0" i="0" u="none" strike="noStrike" cap="none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Jaggi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D. </a:t>
            </a:r>
            <a:r>
              <a:rPr lang="en-US" sz="2296" b="0" i="0" u="none" strike="noStrike" cap="none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Alistarh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T. </a:t>
            </a:r>
            <a:r>
              <a:rPr lang="en-US" sz="2296" b="0" i="0" u="none" strike="noStrike" cap="none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Hoefler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J. </a:t>
            </a:r>
            <a:r>
              <a:rPr lang="en-US" sz="2296" b="0" i="0" u="none" strike="noStrike" cap="none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Hensman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endParaRPr lang="en-US" sz="2296" b="0" i="0" u="none" strike="noStrike" cap="none" dirty="0" smtClean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2804" marR="0" lvl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96"/>
            </a:pPr>
            <a:r>
              <a:rPr lang="en-US" sz="2296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6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2296" b="0" i="0" u="none" strike="noStrike" cap="none" dirty="0" smtClean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-US" sz="2296" b="0" i="0" u="none" strike="noStrike" cap="none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QuaRot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Outlier-free 4-bit Inference in Rotated LLMs,” </a:t>
            </a:r>
            <a:r>
              <a:rPr lang="en-US" sz="2296" b="0" i="0" u="none" strike="noStrike" cap="none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ArXiv</a:t>
            </a:r>
            <a:r>
              <a:rPr lang="en-US" sz="2296" b="0" i="0" u="none" strike="noStrike" cap="none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abs/2404.00456, 2024.</a:t>
            </a:r>
            <a:endParaRPr sz="2296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5" name="Google Shape;515;p29"/>
          <p:cNvSpPr txBox="1">
            <a:spLocks noGrp="1"/>
          </p:cNvSpPr>
          <p:nvPr>
            <p:ph type="ftr" idx="11"/>
          </p:nvPr>
        </p:nvSpPr>
        <p:spPr>
          <a:xfrm>
            <a:off x="16051624" y="96746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>
                <a:solidFill>
                  <a:schemeClr val="lt1"/>
                </a:solidFill>
              </a:rPr>
              <a:t>18</a:t>
            </a:r>
            <a:endParaRPr sz="2000" b="1"/>
          </a:p>
        </p:txBody>
      </p:sp>
      <p:sp>
        <p:nvSpPr>
          <p:cNvPr id="516" name="Google Shape;516;p29"/>
          <p:cNvSpPr txBox="1"/>
          <p:nvPr/>
        </p:nvSpPr>
        <p:spPr>
          <a:xfrm>
            <a:off x="3306923" y="1172137"/>
            <a:ext cx="52071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1" name="Google Shape;521;p30"/>
          <p:cNvGrpSpPr/>
          <p:nvPr/>
        </p:nvGrpSpPr>
        <p:grpSpPr>
          <a:xfrm rot="-4319701">
            <a:off x="-7170718" y="-1371648"/>
            <a:ext cx="13181083" cy="5336516"/>
            <a:chOff x="0" y="-76200"/>
            <a:chExt cx="3471600" cy="1405518"/>
          </a:xfrm>
        </p:grpSpPr>
        <p:sp>
          <p:nvSpPr>
            <p:cNvPr id="522" name="Google Shape;522;p30"/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523" name="Google Shape;523;p30"/>
            <p:cNvSpPr txBox="1"/>
            <p:nvPr/>
          </p:nvSpPr>
          <p:spPr>
            <a:xfrm>
              <a:off x="0" y="-76200"/>
              <a:ext cx="3471600" cy="140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4" name="Google Shape;524;p30"/>
          <p:cNvSpPr/>
          <p:nvPr/>
        </p:nvSpPr>
        <p:spPr>
          <a:xfrm>
            <a:off x="-442614" y="624335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525" name="Google Shape;525;p30"/>
          <p:cNvGrpSpPr/>
          <p:nvPr/>
        </p:nvGrpSpPr>
        <p:grpSpPr>
          <a:xfrm rot="-4319701">
            <a:off x="11560088" y="5937475"/>
            <a:ext cx="13181083" cy="4580119"/>
            <a:chOff x="0" y="-76200"/>
            <a:chExt cx="3471600" cy="1206300"/>
          </a:xfrm>
        </p:grpSpPr>
        <p:sp>
          <p:nvSpPr>
            <p:cNvPr id="526" name="Google Shape;526;p30"/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 extrusionOk="0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  <a:ln>
              <a:noFill/>
            </a:ln>
          </p:spPr>
        </p:sp>
        <p:sp>
          <p:nvSpPr>
            <p:cNvPr id="527" name="Google Shape;527;p30"/>
            <p:cNvSpPr txBox="1"/>
            <p:nvPr/>
          </p:nvSpPr>
          <p:spPr>
            <a:xfrm>
              <a:off x="0" y="-76200"/>
              <a:ext cx="3471600" cy="12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8" name="Google Shape;528;p30"/>
          <p:cNvSpPr/>
          <p:nvPr/>
        </p:nvSpPr>
        <p:spPr>
          <a:xfrm>
            <a:off x="-734405" y="-1051992"/>
            <a:ext cx="4436419" cy="4824276"/>
          </a:xfrm>
          <a:custGeom>
            <a:avLst/>
            <a:gdLst/>
            <a:ahLst/>
            <a:cxnLst/>
            <a:rect l="l" t="t" r="r" b="b"/>
            <a:pathLst>
              <a:path w="4436419" h="4824276" extrusionOk="0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29" name="Google Shape;529;p30"/>
          <p:cNvSpPr/>
          <p:nvPr/>
        </p:nvSpPr>
        <p:spPr>
          <a:xfrm rot="10800000">
            <a:off x="14470870" y="6447630"/>
            <a:ext cx="4436419" cy="4824276"/>
          </a:xfrm>
          <a:custGeom>
            <a:avLst/>
            <a:gdLst/>
            <a:ahLst/>
            <a:cxnLst/>
            <a:rect l="l" t="t" r="r" b="b"/>
            <a:pathLst>
              <a:path w="4436419" h="4824276" extrusionOk="0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30" name="Google Shape;530;p30"/>
          <p:cNvSpPr/>
          <p:nvPr/>
        </p:nvSpPr>
        <p:spPr>
          <a:xfrm>
            <a:off x="-64837" y="801706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 extrusionOk="0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31" name="Google Shape;531;p30"/>
          <p:cNvSpPr/>
          <p:nvPr/>
        </p:nvSpPr>
        <p:spPr>
          <a:xfrm rot="10800000">
            <a:off x="16546204" y="-66183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 extrusionOk="0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32" name="Google Shape;532;p30"/>
          <p:cNvSpPr/>
          <p:nvPr/>
        </p:nvSpPr>
        <p:spPr>
          <a:xfrm rot="10800000">
            <a:off x="15975469" y="-1705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 extrusionOk="0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33" name="Google Shape;533;p30"/>
          <p:cNvSpPr txBox="1"/>
          <p:nvPr/>
        </p:nvSpPr>
        <p:spPr>
          <a:xfrm>
            <a:off x="4243940" y="5846503"/>
            <a:ext cx="9800100" cy="17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2"/>
              <a:buFont typeface="Arial"/>
              <a:buNone/>
            </a:pPr>
            <a:r>
              <a:rPr lang="en-US" sz="5652" b="0" i="0" u="none" strike="noStrike" cap="none">
                <a:solidFill>
                  <a:srgbClr val="454B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your attention </a:t>
            </a:r>
            <a:endParaRPr sz="5652" b="0" i="0" u="none" strike="noStrike" cap="none">
              <a:solidFill>
                <a:srgbClr val="454B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2"/>
              <a:buFont typeface="Arial"/>
              <a:buNone/>
            </a:pPr>
            <a:r>
              <a:rPr lang="en-US" sz="5652" b="0" i="0" u="none" strike="noStrike" cap="none">
                <a:solidFill>
                  <a:srgbClr val="454B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Questions?</a:t>
            </a:r>
            <a:endParaRPr sz="5652" b="0" i="0" u="none" strike="noStrike" cap="none">
              <a:solidFill>
                <a:srgbClr val="454B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4" name="Google Shape;534;p30"/>
          <p:cNvSpPr txBox="1"/>
          <p:nvPr/>
        </p:nvSpPr>
        <p:spPr>
          <a:xfrm>
            <a:off x="2312531" y="3866942"/>
            <a:ext cx="13662900" cy="18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21"/>
              <a:buFont typeface="Arial"/>
              <a:buNone/>
            </a:pPr>
            <a:r>
              <a:rPr lang="en-US" sz="14821" b="1" i="0" u="none" strike="noStrike" cap="none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1400" b="0" i="0" u="none" strike="noStrike" cap="none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5" name="Google Shape;535;p30"/>
          <p:cNvSpPr txBox="1">
            <a:spLocks noGrp="1"/>
          </p:cNvSpPr>
          <p:nvPr>
            <p:ph type="ftr" idx="11"/>
          </p:nvPr>
        </p:nvSpPr>
        <p:spPr>
          <a:xfrm>
            <a:off x="3124200" y="63134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1019</TotalTime>
  <Words>1167</Words>
  <Application>Microsoft Office PowerPoint</Application>
  <PresentationFormat>Custom</PresentationFormat>
  <Paragraphs>212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Inter</vt:lpstr>
      <vt:lpstr>Noto Sans Symbols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Asus</cp:lastModifiedBy>
  <cp:revision>18</cp:revision>
  <dcterms:modified xsi:type="dcterms:W3CDTF">2025-12-15T02:35:08Z</dcterms:modified>
</cp:coreProperties>
</file>